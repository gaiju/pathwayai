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thwayai.streamlit.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cdc.gov/lyme/data-research/facts-stats/index.html" TargetMode="External"/><Relationship Id="rId3" Type="http://schemas.openxmlformats.org/officeDocument/2006/relationships/hyperlink" Target="https://data.census.gov/" TargetMode="External"/><Relationship Id="rId4" Type="http://schemas.openxmlformats.org/officeDocument/2006/relationships/hyperlink" Target="https://data.hrsa.gov/topics/health-workforce/nchwa/ahrf" TargetMode="External"/><Relationship Id="rId5" Type="http://schemas.openxmlformats.org/officeDocument/2006/relationships/hyperlink" Target="https://www.health.ny.gov/statistics/diseases/communicable/2024/docs/cases.pdf" TargetMode="External"/><Relationship Id="rId6" Type="http://schemas.openxmlformats.org/officeDocument/2006/relationships/hyperlink" Target="https://wwwnc.cdc.gov/eid/article/28/6/21-1335_article" TargetMode="External"/><Relationship Id="rId7" Type="http://schemas.openxmlformats.org/officeDocument/2006/relationships/hyperlink" Target="https://doi.org/10.3389/fmed.2025.157793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thwayai.streamlit.app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23149"/>
                </a:solidFill>
                <a:latin typeface="Aptos"/>
              </a:defRPr>
            </a:pPr>
            <a:r>
              <a:t>PathwayAI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287583"/>
                </a:solidFill>
                <a:latin typeface="Aptos"/>
              </a:defRPr>
            </a:pPr>
            <a:r>
              <a:t>Making the Hidden Patient Journey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100584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PathwayAI | Team GreenAcorn | Yuwei Zhang | October 15,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11155680" cy="1874519"/>
          </a:xfrm>
          <a:prstGeom prst="roundRect">
            <a:avLst/>
          </a:prstGeom>
          <a:solidFill>
            <a:srgbClr val="ED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561320" cy="14173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3200" b="1">
                <a:solidFill>
                  <a:srgbClr val="123149"/>
                </a:solidFill>
                <a:latin typeface="Aptos"/>
              </a:defRPr>
            </a:pPr>
            <a:r>
              <a:t>Connect prevention, care preparation, support and community burden planning.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977639"/>
            <a:ext cx="1097280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400" b="0">
                <a:solidFill>
                  <a:srgbClr val="123149"/>
                </a:solidFill>
                <a:latin typeface="Aptos"/>
              </a:defRPr>
            </a:pPr>
            <a:r>
              <a:t>Personal benefit: organize a story, costs and questions for care.</a:t>
            </a:r>
          </a:p>
          <a:p>
            <a:pPr>
              <a:spcAft>
                <a:spcPts val="1400"/>
              </a:spcAft>
              <a:defRPr sz="2400" b="0">
                <a:solidFill>
                  <a:srgbClr val="123149"/>
                </a:solidFill>
                <a:latin typeface="Aptos"/>
              </a:defRPr>
            </a:pPr>
            <a:r>
              <a:t>Community benefit: explore Lyme reports and transparent cost illustrations.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623560"/>
            <a:ext cx="109728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200" b="0">
                <a:solidFill>
                  <a:srgbClr val="287583"/>
                </a:solidFill>
                <a:latin typeface="Aptos"/>
              </a:defRPr>
            </a:pPr>
            <a:r>
              <a:rPr>
                <a:hlinkClick r:id="rId2"/>
              </a:rPr>
              <a:t>Open the working application: pathwayai.streamlit.app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23149"/>
                </a:solidFill>
                <a:latin typeface="Aptos"/>
              </a:defRPr>
            </a:pPr>
            <a:r>
              <a:t>Four connected pathways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287583"/>
                </a:solidFill>
                <a:latin typeface="Aptos"/>
              </a:defRPr>
            </a:pPr>
            <a:r>
              <a:t>Choose a need. Receive a useful output. Keep the record.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100584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PathwayAI | Team GreenAcorn | Yuwei Zhang | October 15,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1920240"/>
          </a:xfrm>
          <a:prstGeom prst="roundRect">
            <a:avLst/>
          </a:prstGeom>
          <a:solidFill>
            <a:srgbClr val="ED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12064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23149"/>
                </a:solidFill>
                <a:latin typeface="Aptos"/>
              </a:defRPr>
            </a:pPr>
            <a:r>
              <a:t>Plan an outdoor 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1206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Explore exposure context and prepare a prevention plan.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486400" cy="1920240"/>
          </a:xfrm>
          <a:prstGeom prst="roundRect">
            <a:avLst/>
          </a:prstGeom>
          <a:solidFill>
            <a:srgbClr val="ED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512064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23149"/>
                </a:solidFill>
                <a:latin typeface="Aptos"/>
              </a:defRPr>
            </a:pPr>
            <a:r>
              <a:t>Respond to a tick bite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51206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Remove the tick, record the encounter and know when to seek care.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886200"/>
            <a:ext cx="5486400" cy="1920240"/>
          </a:xfrm>
          <a:prstGeom prst="roundRect">
            <a:avLst/>
          </a:prstGeom>
          <a:solidFill>
            <a:srgbClr val="ED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69080"/>
            <a:ext cx="512064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23149"/>
                </a:solidFill>
                <a:latin typeface="Aptos"/>
              </a:defRPr>
            </a:pPr>
            <a:r>
              <a:t>Care &amp; Support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709160"/>
            <a:ext cx="51206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Organize a story, review costs and time, download a card and find support.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886200"/>
            <a:ext cx="5486400" cy="1920240"/>
          </a:xfrm>
          <a:prstGeom prst="roundRect">
            <a:avLst/>
          </a:prstGeom>
          <a:solidFill>
            <a:srgbClr val="ED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069080"/>
            <a:ext cx="5120640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23149"/>
                </a:solidFill>
                <a:latin typeface="Aptos"/>
              </a:defRPr>
            </a:pPr>
            <a:r>
              <a:t>Community Burden &amp; Action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512064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Compare Dutchess and Orange; inspect costs, sources and planning options.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23149"/>
                </a:solidFill>
                <a:latin typeface="Aptos"/>
              </a:defRPr>
            </a:pPr>
            <a:r>
              <a:t>How the journey connects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287583"/>
                </a:solidFill>
                <a:latin typeface="Aptos"/>
              </a:defRPr>
            </a:pPr>
            <a:r>
              <a:t>Costs and time can accumulate at several points in care.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100584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PathwayAI | Team GreenAcorn | Yuwei Zhang | October 15,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3</a:t>
            </a:r>
          </a:p>
        </p:txBody>
      </p:sp>
      <p:pic>
        <p:nvPicPr>
          <p:cNvPr id="6" name="Picture 5" descr="lyme_care_cos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9968" y="1554480"/>
            <a:ext cx="7017283" cy="4389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" y="6035040"/>
            <a:ext cx="10972800" cy="320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400" b="0">
                <a:solidFill>
                  <a:srgbClr val="526570"/>
                </a:solidFill>
                <a:latin typeface="Aptos"/>
              </a:defRPr>
            </a:pPr>
            <a:r>
              <a:t>Care varies. This illustration describes possible steps, rather than a required testing or treatment sequence.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23149"/>
                </a:solidFill>
                <a:latin typeface="Aptos"/>
              </a:defRPr>
            </a:pPr>
            <a:r>
              <a:t>A personal card for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287583"/>
                </a:solidFill>
                <a:latin typeface="Aptos"/>
              </a:defRPr>
            </a:pPr>
            <a:r>
              <a:t>FICTIONAL DEMONSTRATION | Past 30 days | Not a real patient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100584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PathwayAI | Team GreenAcorn | Yuwei Zhang | October 15,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6492240" cy="3566160"/>
          </a:xfrm>
          <a:prstGeom prst="roundRect">
            <a:avLst/>
          </a:prstGeom>
          <a:solidFill>
            <a:srgbClr val="ED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603504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23149"/>
                </a:solidFill>
                <a:latin typeface="Aptos"/>
              </a:defRPr>
            </a:pPr>
            <a:r>
              <a:t>My story and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514600"/>
            <a:ext cx="603504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23149"/>
                </a:solidFill>
                <a:latin typeface="Aptos"/>
              </a:defRPr>
            </a:pPr>
            <a:r>
              <a:t>I felt tired after an outdoor walk and want help preparing for a visit.</a:t>
            </a:r>
          </a:p>
          <a:p>
            <a:pPr>
              <a:spcAft>
                <a:spcPts val="1400"/>
              </a:spcAft>
              <a:defRPr sz="2000" b="0">
                <a:solidFill>
                  <a:srgbClr val="123149"/>
                </a:solidFill>
                <a:latin typeface="Aptos"/>
              </a:defRPr>
            </a:pPr>
            <a:r>
              <a:t>I paid $180 for care and $45 for travel. I missed 3 workdays. An unpaid caregiver helped for 8 hours.</a:t>
            </a:r>
          </a:p>
          <a:p>
            <a:pPr>
              <a:spcAft>
                <a:spcPts val="1400"/>
              </a:spcAft>
              <a:defRPr sz="2000" b="0">
                <a:solidFill>
                  <a:srgbClr val="123149"/>
                </a:solidFill>
                <a:latin typeface="Aptos"/>
              </a:defRPr>
            </a:pPr>
            <a:r>
              <a:t>What could explain my symptoms? What care, testing or follow-up is appropriate?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1645920"/>
            <a:ext cx="4434840" cy="3566160"/>
          </a:xfrm>
          <a:prstGeom prst="roundRect">
            <a:avLst/>
          </a:prstGeom>
          <a:solidFill>
            <a:srgbClr val="FFF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52360" y="1828800"/>
            <a:ext cx="3977639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300" b="1">
                <a:solidFill>
                  <a:srgbClr val="123149"/>
                </a:solidFill>
                <a:latin typeface="Aptos"/>
              </a:defRPr>
            </a:pPr>
            <a:r>
              <a:t>My money and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560320"/>
            <a:ext cx="3977639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Patient-paid spending: $225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Missed work: 3 days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Unpaid help: 8 hours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Separate work-loss example: 3 × $120/day = $360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8640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123149"/>
                </a:solidFill>
                <a:latin typeface="Aptos"/>
              </a:defRPr>
            </a:pPr>
            <a:r>
              <a:t>Review and correct entries, then download the record for visits with different providers. The work-loss example stays separate from payments; caregiver time remains hours.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23149"/>
                </a:solidFill>
                <a:latin typeface="Aptos"/>
              </a:defRPr>
            </a:pPr>
            <a:r>
              <a:t>Hudson Valley community cost illustration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287583"/>
                </a:solidFill>
                <a:latin typeface="Aptos"/>
              </a:defRPr>
            </a:pPr>
            <a:r>
              <a:t>2024 reported cases × published study costs | All cost amounts in 2016 dollars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100584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PathwayAI | Team GreenAcorn | Yuwei Zhang | October 15,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737360"/>
          <a:ext cx="1115567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/>
                <a:gridCol w="2468880"/>
                <a:gridCol w="2468880"/>
                <a:gridCol w="2468880"/>
              </a:tblGrid>
              <a:tr h="50292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Measure</a:t>
                      </a:r>
                    </a:p>
                  </a:txBody>
                  <a:tcPr>
                    <a:solidFill>
                      <a:srgbClr val="EDF6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Dutchess</a:t>
                      </a:r>
                    </a:p>
                  </a:txBody>
                  <a:tcPr>
                    <a:solidFill>
                      <a:srgbClr val="EDF6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Orange</a:t>
                      </a:r>
                    </a:p>
                  </a:txBody>
                  <a:tcPr>
                    <a:solidFill>
                      <a:srgbClr val="EDF6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Combined</a:t>
                      </a:r>
                    </a:p>
                  </a:txBody>
                  <a:tcPr>
                    <a:solidFill>
                      <a:srgbClr val="EDF6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Reported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1,060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964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2,024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Medical illustration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$1,412,980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$1,285,012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$2,697,992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Other + productivity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$740,940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$673,836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0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$1,414,776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Societal illustration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$2,153,920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$1,958,848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800" b="1">
                          <a:solidFill>
                            <a:srgbClr val="123149"/>
                          </a:solidFill>
                          <a:latin typeface="Aptos"/>
                        </a:defRPr>
                      </a:pPr>
                      <a:r>
                        <a:t>$4,112,768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94360" y="4526280"/>
            <a:ext cx="10972800" cy="960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000" b="0">
                <a:solidFill>
                  <a:srgbClr val="123149"/>
                </a:solidFill>
                <a:latin typeface="Aptos"/>
              </a:defRPr>
            </a:pPr>
            <a:r>
              <a:t>Hook et al. (2022): societal mean $2,032; medical reference $1,333. The $699 remainder combines other expenses and lost productivity.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62356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526570"/>
                </a:solidFill>
                <a:latin typeface="Aptos"/>
              </a:defRPr>
            </a:pPr>
            <a:r>
              <a:t>Study-based illustrations, not measured county spending or individual bills. No adjustment for regional prices, inflation, underreporting or local case mix.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23149"/>
                </a:solidFill>
                <a:latin typeface="Aptos"/>
              </a:defRPr>
            </a:pPr>
            <a:r>
              <a:t>Evidence reviewers can inspect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287583"/>
                </a:solidFill>
                <a:latin typeface="Aptos"/>
              </a:defRPr>
            </a:pPr>
            <a:r>
              <a:t>Keep surveillance, research, personal records and modeled illustrations distinct.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100584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PathwayAI | Team GreenAcorn | Yuwei Zhang | October 15,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45920"/>
            <a:ext cx="27432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287583"/>
                </a:solidFill>
                <a:latin typeface="Aptos"/>
              </a:defRPr>
            </a:pPr>
            <a:r>
              <a:rPr>
                <a:hlinkClick r:id="rId2"/>
              </a:rPr>
              <a:t>CDC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1645920"/>
            <a:ext cx="7955279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123149"/>
                </a:solidFill>
                <a:latin typeface="Aptos"/>
              </a:defRPr>
            </a:pPr>
            <a:r>
              <a:t>Tick and historical case context; prevention and testing guidance.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58568"/>
            <a:ext cx="27432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287583"/>
                </a:solidFill>
                <a:latin typeface="Aptos"/>
              </a:defRPr>
            </a:pPr>
            <a:r>
              <a:rPr>
                <a:hlinkClick r:id="rId3"/>
              </a:rPr>
              <a:t>Census ACS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2258568"/>
            <a:ext cx="7955279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123149"/>
                </a:solidFill>
                <a:latin typeface="Aptos"/>
              </a:defRPr>
            </a:pPr>
            <a:r>
              <a:t>Language, disability and socioeconomic context.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71216"/>
            <a:ext cx="27432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287583"/>
                </a:solidFill>
                <a:latin typeface="Aptos"/>
              </a:defRPr>
            </a:pPr>
            <a:r>
              <a:rPr>
                <a:hlinkClick r:id="rId4"/>
              </a:rPr>
              <a:t>HRSA AHRF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871216"/>
            <a:ext cx="7955279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123149"/>
                </a:solidFill>
                <a:latin typeface="Aptos"/>
              </a:defRPr>
            </a:pPr>
            <a:r>
              <a:t>2024–2025 release; 2023 physician, hospital and bed counts.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483864"/>
            <a:ext cx="27432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287583"/>
                </a:solidFill>
                <a:latin typeface="Aptos"/>
              </a:defRPr>
            </a:pPr>
            <a:r>
              <a:rPr>
                <a:hlinkClick r:id="rId5"/>
              </a:rPr>
              <a:t>NYSDOH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483864"/>
            <a:ext cx="7955279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123149"/>
                </a:solidFill>
                <a:latin typeface="Aptos"/>
              </a:defRPr>
            </a:pPr>
            <a:r>
              <a:t>2024 reported Lyme cases and rates; sampled tick observations.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096512"/>
            <a:ext cx="27432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287583"/>
                </a:solidFill>
                <a:latin typeface="Aptos"/>
              </a:defRPr>
            </a:pPr>
            <a:r>
              <a:rPr>
                <a:hlinkClick r:id="rId6"/>
              </a:rPr>
              <a:t>Hook et al. (2022)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096512"/>
            <a:ext cx="7955279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123149"/>
                </a:solidFill>
                <a:latin typeface="Aptos"/>
              </a:defRPr>
            </a:pPr>
            <a:r>
              <a:t>Main societal-cost assumptions, in 2016 dollars.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709160"/>
            <a:ext cx="27432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900" b="0">
                <a:solidFill>
                  <a:srgbClr val="287583"/>
                </a:solidFill>
                <a:latin typeface="Aptos"/>
              </a:defRPr>
            </a:pPr>
            <a:r>
              <a:rPr>
                <a:hlinkClick r:id="rId7"/>
              </a:rPr>
              <a:t>Horn et al. (2025)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4709160"/>
            <a:ext cx="7955279" cy="502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123149"/>
                </a:solidFill>
                <a:latin typeface="Aptos"/>
              </a:defRPr>
            </a:pPr>
            <a:r>
              <a:t>Biobank follow-up: 55 of 253 returners reported ongoing symptoms.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57784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500" b="0">
                <a:solidFill>
                  <a:srgbClr val="526570"/>
                </a:solidFill>
                <a:latin typeface="Aptos"/>
              </a:defRPr>
            </a:pPr>
            <a:r>
              <a:t>CDC PLACES adds modeled adult health context. Disability comparisons retain an unresolved Census source-year note. Survey findings remain separate from county estimates.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3000" b="1">
                <a:solidFill>
                  <a:srgbClr val="123149"/>
                </a:solidFill>
                <a:latin typeface="Aptos"/>
              </a:defRPr>
            </a:pPr>
            <a:r>
              <a:t>What works now. What comes next.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700" b="0">
                <a:solidFill>
                  <a:srgbClr val="287583"/>
                </a:solidFill>
                <a:latin typeface="Aptos"/>
              </a:defRPr>
            </a:pPr>
            <a:r>
              <a:t>Personal records now; consent-based community learning as the next pilot phase.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100584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PathwayAI | Team GreenAcorn | Yuwei Zhang | October 15,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01400" y="6492240"/>
            <a:ext cx="457200" cy="182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000" b="0">
                <a:solidFill>
                  <a:srgbClr val="526570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737360"/>
            <a:ext cx="5486400" cy="3383280"/>
          </a:xfrm>
          <a:prstGeom prst="roundRect">
            <a:avLst/>
          </a:prstGeom>
          <a:solidFill>
            <a:srgbClr val="ED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0" y="1737360"/>
            <a:ext cx="5440680" cy="3383280"/>
          </a:xfrm>
          <a:prstGeom prst="roundRect">
            <a:avLst/>
          </a:prstGeom>
          <a:solidFill>
            <a:srgbClr val="FFF2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50292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23149"/>
                </a:solidFill>
                <a:latin typeface="Aptos"/>
              </a:defRPr>
            </a:pPr>
            <a:r>
              <a:t>Working MVP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498348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Prevention and testing education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Reviewed story, costs and time records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Downloadable card and personal visual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Support requests and county comparisons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965960"/>
            <a:ext cx="498348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400" b="1">
                <a:solidFill>
                  <a:srgbClr val="123149"/>
                </a:solidFill>
                <a:latin typeface="Aptos"/>
              </a:defRPr>
            </a:pPr>
            <a:r>
              <a:t>Next community 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697480"/>
            <a:ext cx="498348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Separate consent and secure reporting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Reuse reviewed records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Understand local barriers and needs</a:t>
            </a:r>
          </a:p>
          <a:p>
            <a:pPr>
              <a:spcAft>
                <a:spcPts val="1400"/>
              </a:spcAft>
              <a:defRPr sz="2100" b="0">
                <a:solidFill>
                  <a:srgbClr val="123149"/>
                </a:solidFill>
                <a:latin typeface="Aptos"/>
              </a:defRPr>
            </a:pPr>
            <a:r>
              <a:t>Evaluate support connections and results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44068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526570"/>
                </a:solidFill>
                <a:latin typeface="Aptos"/>
              </a:defRPr>
            </a:pPr>
            <a:r>
              <a:t>Personal cards are not automatically pooled. Medication pricing and longer-term burden modeling remain future work. Health benefits and savings require evaluation.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217920"/>
            <a:ext cx="10058400" cy="411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400"/>
              </a:spcAft>
              <a:defRPr sz="1800" b="0">
                <a:solidFill>
                  <a:srgbClr val="287583"/>
                </a:solidFill>
                <a:latin typeface="Aptos"/>
              </a:defRPr>
            </a:pPr>
            <a:r>
              <a:rPr>
                <a:hlinkClick r:id="rId2"/>
              </a:rPr>
              <a:t>Try PathwayAI: pathwayai.streamlit.app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