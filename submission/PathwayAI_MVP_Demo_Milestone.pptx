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embeddedFontLst>
    <p:embeddedFont>
      <p:font typeface="Merriweather" panose="00000500000000000000" pitchFamily="2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IDX0oa8bxpIGvv/g6xyu3lDpn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77269d830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g3977269d830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" name="Google Shape;18;g3977269d830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77269d830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g3977269d830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g3977269d830_0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77269d830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g3977269d830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g3977269d830_0_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77269d830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977269d830_0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g3977269d830_0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HS Invisible Illnes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772159add_0_10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39772159add_0_10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39772159add_0_10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E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977269d830_0_112"/>
          <p:cNvSpPr/>
          <p:nvPr/>
        </p:nvSpPr>
        <p:spPr>
          <a:xfrm>
            <a:off x="0" y="0"/>
            <a:ext cx="304200" cy="5143500"/>
          </a:xfrm>
          <a:prstGeom prst="rect">
            <a:avLst/>
          </a:prstGeom>
          <a:solidFill>
            <a:srgbClr val="C9A227"/>
          </a:solidFill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977269d830_0_112"/>
          <p:cNvSpPr/>
          <p:nvPr/>
        </p:nvSpPr>
        <p:spPr>
          <a:xfrm>
            <a:off x="740664" y="150876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sz="3600" b="1">
                <a:solidFill>
                  <a:srgbClr val="192F4B"/>
                </a:solidFill>
                <a:latin typeface="Roboto"/>
              </a:rPr>
              <a:t>PathwayAI</a:t>
            </a:r>
            <a:endParaRPr sz="3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192F4B"/>
                </a:solidFill>
                <a:latin typeface="Roboto"/>
              </a:rPr>
              <a:t>From Patient Voices to Community Action</a:t>
            </a:r>
          </a:p>
        </p:txBody>
      </p:sp>
      <p:sp>
        <p:nvSpPr>
          <p:cNvPr id="22" name="Google Shape;22;g3977269d830_0_112"/>
          <p:cNvSpPr/>
          <p:nvPr/>
        </p:nvSpPr>
        <p:spPr>
          <a:xfrm>
            <a:off x="744377" y="1051560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9A227"/>
                </a:solidFill>
                <a:latin typeface="Roboto"/>
                <a:ea typeface="Roboto"/>
                <a:cs typeface="Roboto"/>
                <a:sym typeface="Roboto"/>
              </a:rPr>
              <a:t>MVP Showcase</a:t>
            </a:r>
            <a:endParaRPr sz="1800" b="1" i="0" u="none" strike="noStrike" cap="none">
              <a:solidFill>
                <a:srgbClr val="C9A2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3;g3977269d830_0_112"/>
          <p:cNvSpPr/>
          <p:nvPr/>
        </p:nvSpPr>
        <p:spPr>
          <a:xfrm>
            <a:off x="744368" y="3246120"/>
            <a:ext cx="6071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CADCFC"/>
                </a:solidFill>
                <a:latin typeface="Merriweather"/>
                <a:ea typeface="Merriweather"/>
                <a:cs typeface="Merriweather"/>
                <a:sym typeface="Merriweather"/>
              </a:rPr>
              <a:t>Yuwei Zhang | Team GreenAcorn</a:t>
            </a:r>
            <a:endParaRPr sz="1500" b="0" i="0" u="none" strike="noStrike" cap="none">
              <a:solidFill>
                <a:srgbClr val="CADCF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" name="Google Shape;24;g3977269d830_0_112"/>
          <p:cNvSpPr/>
          <p:nvPr/>
        </p:nvSpPr>
        <p:spPr>
          <a:xfrm>
            <a:off x="6439605" y="4703465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TOPx HHS Tech Sprint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977269d830_0_112"/>
          <p:cNvSpPr/>
          <p:nvPr/>
        </p:nvSpPr>
        <p:spPr>
          <a:xfrm rot="-5400000">
            <a:off x="-1483900" y="3190400"/>
            <a:ext cx="32721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MVP Showcase</a:t>
            </a:r>
            <a:endParaRPr sz="1000" b="0" i="0" u="none" strike="noStrike" cap="non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" name="Google Shape;26;g3977269d830_0_112"/>
          <p:cNvSpPr/>
          <p:nvPr/>
        </p:nvSpPr>
        <p:spPr>
          <a:xfrm>
            <a:off x="744367" y="3090672"/>
            <a:ext cx="2148775" cy="11975"/>
          </a:xfrm>
          <a:custGeom>
            <a:avLst/>
            <a:gdLst/>
            <a:ahLst/>
            <a:cxnLst/>
            <a:rect l="l" t="t" r="r" b="b"/>
            <a:pathLst>
              <a:path w="85951" h="479" extrusionOk="0">
                <a:moveTo>
                  <a:pt x="0" y="0"/>
                </a:moveTo>
                <a:lnTo>
                  <a:pt x="85951" y="479"/>
                </a:lnTo>
              </a:path>
            </a:pathLst>
          </a:custGeom>
          <a:noFill/>
          <a:ln w="9525" cap="flat" cmpd="sng">
            <a:solidFill>
              <a:srgbClr val="D1EB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77269d830_0_123"/>
          <p:cNvSpPr/>
          <p:nvPr/>
        </p:nvSpPr>
        <p:spPr>
          <a:xfrm>
            <a:off x="0" y="0"/>
            <a:ext cx="9144000" cy="584400"/>
          </a:xfrm>
          <a:prstGeom prst="rect">
            <a:avLst/>
          </a:prstGeom>
          <a:solidFill>
            <a:srgbClr val="121F3E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977269d830_0_123"/>
          <p:cNvSpPr/>
          <p:nvPr/>
        </p:nvSpPr>
        <p:spPr>
          <a:xfrm>
            <a:off x="274325" y="0"/>
            <a:ext cx="7315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C9A227"/>
                </a:solidFill>
                <a:latin typeface="Roboto"/>
                <a:ea typeface="Roboto"/>
                <a:cs typeface="Roboto"/>
                <a:sym typeface="Roboto"/>
              </a:rPr>
              <a:t>Week 10  ·  MVP Showcase</a:t>
            </a:r>
            <a:endParaRPr sz="1300" b="1" i="0" u="none" strike="noStrike" cap="none">
              <a:solidFill>
                <a:srgbClr val="C9A2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g3977269d830_0_123"/>
          <p:cNvSpPr/>
          <p:nvPr/>
        </p:nvSpPr>
        <p:spPr>
          <a:xfrm>
            <a:off x="274320" y="72538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Roboto"/>
                <a:ea typeface="Roboto"/>
                <a:cs typeface="Roboto"/>
                <a:sym typeface="Roboto"/>
              </a:rPr>
              <a:t>MVP Walkthrough</a:t>
            </a:r>
            <a:endParaRPr sz="2800" b="1" i="0" u="none" strike="noStrike" cap="none">
              <a:solidFill>
                <a:srgbClr val="1B2A4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g3977269d830_0_123"/>
          <p:cNvSpPr/>
          <p:nvPr/>
        </p:nvSpPr>
        <p:spPr>
          <a:xfrm>
            <a:off x="274320" y="127409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Your completed minimum viable product</a:t>
            </a:r>
            <a:endParaRPr sz="1400" b="0" i="1" u="none" strike="noStrike" cap="none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" name="Google Shape;36;g3977269d830_0_123"/>
          <p:cNvSpPr/>
          <p:nvPr/>
        </p:nvSpPr>
        <p:spPr>
          <a:xfrm>
            <a:off x="274325" y="1715262"/>
            <a:ext cx="5029200" cy="2765400"/>
          </a:xfrm>
          <a:prstGeom prst="rect">
            <a:avLst/>
          </a:prstGeom>
          <a:solidFill>
            <a:srgbClr val="F3F3F3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977269d830_0_123"/>
          <p:cNvSpPr/>
          <p:nvPr/>
        </p:nvSpPr>
        <p:spPr>
          <a:xfrm>
            <a:off x="411475" y="1864975"/>
            <a:ext cx="47550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[Full product demo here]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Complete user journey from start to finish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All core features demonstrated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User advocates and communities you worked with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" name="Google Shape;38;g3977269d830_0_123"/>
          <p:cNvSpPr/>
          <p:nvPr/>
        </p:nvSpPr>
        <p:spPr>
          <a:xfrm>
            <a:off x="5532125" y="1715149"/>
            <a:ext cx="3337500" cy="2765400"/>
          </a:xfrm>
          <a:prstGeom prst="rect">
            <a:avLst/>
          </a:prstGeom>
          <a:solidFill>
            <a:srgbClr val="D1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977269d830_0_123"/>
          <p:cNvSpPr/>
          <p:nvPr/>
        </p:nvSpPr>
        <p:spPr>
          <a:xfrm>
            <a:off x="5532125" y="1409488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21F3E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1000" b="1" i="0" u="none" strike="noStrike" cap="none">
              <a:solidFill>
                <a:srgbClr val="121F3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g3977269d830_0_123"/>
          <p:cNvSpPr/>
          <p:nvPr/>
        </p:nvSpPr>
        <p:spPr>
          <a:xfrm>
            <a:off x="5692175" y="1864975"/>
            <a:ext cx="3017400" cy="24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1F3E"/>
              </a:buClr>
              <a:buSzPts val="1250"/>
              <a:buFont typeface="Merriweather"/>
              <a:buAutoNum type="arabicPeriod"/>
            </a:pPr>
            <a:r>
              <a:rPr lang="en-US" sz="1250" b="0" i="0" u="none" strike="noStrike" cap="none">
                <a:solidFill>
                  <a:srgbClr val="121F3E"/>
                </a:solidFill>
                <a:latin typeface="Merriweather"/>
                <a:ea typeface="Merriweather"/>
                <a:cs typeface="Merriweather"/>
                <a:sym typeface="Merriweather"/>
              </a:rPr>
              <a:t>Walk us through the full product experience.</a:t>
            </a:r>
            <a:endParaRPr sz="1250" b="0" i="0" u="none" strike="noStrike" cap="none">
              <a:solidFill>
                <a:srgbClr val="121F3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1F3E"/>
              </a:buClr>
              <a:buSzPts val="1250"/>
              <a:buFont typeface="Merriweather"/>
              <a:buAutoNum type="arabicPeriod"/>
            </a:pPr>
            <a:r>
              <a:rPr lang="en-US" sz="1250" b="0" i="0" u="none" strike="noStrike" cap="none">
                <a:solidFill>
                  <a:srgbClr val="121F3E"/>
                </a:solidFill>
                <a:latin typeface="Merriweather"/>
                <a:ea typeface="Merriweather"/>
                <a:cs typeface="Merriweather"/>
                <a:sym typeface="Merriweather"/>
              </a:rPr>
              <a:t>Who did you test with and what did you learn?</a:t>
            </a:r>
            <a:endParaRPr sz="1250" b="0" i="0" u="none" strike="noStrike" cap="none">
              <a:solidFill>
                <a:srgbClr val="121F3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1" name="Google Shape;41;g3977269d830_0_123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F3F3F3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977269d830_0_123"/>
          <p:cNvSpPr/>
          <p:nvPr/>
        </p:nvSpPr>
        <p:spPr>
          <a:xfrm>
            <a:off x="274320" y="4892040"/>
            <a:ext cx="82296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TOPx HHS Tech Sprint for AI and Invisible Illness  ·  Milestone Presentation Template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77269d830_0_138"/>
          <p:cNvSpPr/>
          <p:nvPr/>
        </p:nvSpPr>
        <p:spPr>
          <a:xfrm>
            <a:off x="0" y="0"/>
            <a:ext cx="9144000" cy="584400"/>
          </a:xfrm>
          <a:prstGeom prst="rect">
            <a:avLst/>
          </a:prstGeom>
          <a:solidFill>
            <a:srgbClr val="121F3E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977269d830_0_138"/>
          <p:cNvSpPr/>
          <p:nvPr/>
        </p:nvSpPr>
        <p:spPr>
          <a:xfrm>
            <a:off x="274325" y="0"/>
            <a:ext cx="7315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C9A227"/>
                </a:solidFill>
                <a:latin typeface="Roboto"/>
                <a:ea typeface="Roboto"/>
                <a:cs typeface="Roboto"/>
                <a:sym typeface="Roboto"/>
              </a:rPr>
              <a:t>Week 10  ·  MVP Showcase</a:t>
            </a:r>
            <a:endParaRPr sz="1300" b="1" i="0" u="none" strike="noStrike" cap="none">
              <a:solidFill>
                <a:srgbClr val="C9A2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g3977269d830_0_138"/>
          <p:cNvSpPr/>
          <p:nvPr/>
        </p:nvSpPr>
        <p:spPr>
          <a:xfrm>
            <a:off x="274320" y="72538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Roboto"/>
                <a:ea typeface="Roboto"/>
                <a:cs typeface="Roboto"/>
                <a:sym typeface="Roboto"/>
              </a:rPr>
              <a:t>Impact &amp; Evidence</a:t>
            </a:r>
            <a:endParaRPr sz="2800" b="1" i="0" u="none" strike="noStrike" cap="none">
              <a:solidFill>
                <a:srgbClr val="1B2A4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g3977269d830_0_138"/>
          <p:cNvSpPr/>
          <p:nvPr/>
        </p:nvSpPr>
        <p:spPr>
          <a:xfrm>
            <a:off x="274320" y="127409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End users, data, and outcomes</a:t>
            </a:r>
            <a:endParaRPr sz="1400" b="0" i="1" u="none" strike="noStrike" cap="none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" name="Google Shape;52;g3977269d830_0_138"/>
          <p:cNvSpPr/>
          <p:nvPr/>
        </p:nvSpPr>
        <p:spPr>
          <a:xfrm>
            <a:off x="274325" y="1715262"/>
            <a:ext cx="5029200" cy="2765400"/>
          </a:xfrm>
          <a:prstGeom prst="rect">
            <a:avLst/>
          </a:prstGeom>
          <a:solidFill>
            <a:srgbClr val="F3F3F3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977269d830_0_138"/>
          <p:cNvSpPr/>
          <p:nvPr/>
        </p:nvSpPr>
        <p:spPr>
          <a:xfrm>
            <a:off x="411475" y="1864975"/>
            <a:ext cx="47550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End user(s) the product serves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User advocates engaged throughout the sprint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Federal open datasets incorporated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Evidence of user validation or testing results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4" name="Google Shape;54;g3977269d830_0_138"/>
          <p:cNvSpPr/>
          <p:nvPr/>
        </p:nvSpPr>
        <p:spPr>
          <a:xfrm>
            <a:off x="5532125" y="1715149"/>
            <a:ext cx="3337500" cy="2765400"/>
          </a:xfrm>
          <a:prstGeom prst="rect">
            <a:avLst/>
          </a:prstGeom>
          <a:solidFill>
            <a:srgbClr val="D1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977269d830_0_138"/>
          <p:cNvSpPr/>
          <p:nvPr/>
        </p:nvSpPr>
        <p:spPr>
          <a:xfrm>
            <a:off x="5532125" y="1409488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21F3E"/>
                </a:solidFill>
                <a:latin typeface="Roboto"/>
                <a:ea typeface="Roboto"/>
                <a:cs typeface="Roboto"/>
                <a:sym typeface="Roboto"/>
              </a:rPr>
              <a:t>PROOF POINTS</a:t>
            </a:r>
            <a:endParaRPr sz="1000" b="1" i="0" u="none" strike="noStrike" cap="none">
              <a:solidFill>
                <a:srgbClr val="121F3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g3977269d830_0_138"/>
          <p:cNvSpPr/>
          <p:nvPr/>
        </p:nvSpPr>
        <p:spPr>
          <a:xfrm>
            <a:off x="5692175" y="1864975"/>
            <a:ext cx="3017400" cy="24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1F3E"/>
              </a:buClr>
              <a:buSzPts val="1250"/>
              <a:buFont typeface="Merriweather"/>
              <a:buAutoNum type="arabicPeriod"/>
            </a:pPr>
            <a:r>
              <a:rPr lang="en-US" sz="1250" b="0" i="0" u="none" strike="noStrike" cap="none">
                <a:solidFill>
                  <a:srgbClr val="121F3E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you know this works for users?</a:t>
            </a:r>
            <a:endParaRPr sz="1250" b="0" i="0" u="none" strike="noStrike" cap="none">
              <a:solidFill>
                <a:srgbClr val="121F3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1F3E"/>
              </a:buClr>
              <a:buSzPts val="1250"/>
              <a:buFont typeface="Merriweather"/>
              <a:buAutoNum type="arabicPeriod"/>
            </a:pPr>
            <a:r>
              <a:rPr lang="en-US" sz="1250" b="0" i="0" u="none" strike="noStrike" cap="none">
                <a:solidFill>
                  <a:srgbClr val="121F3E"/>
                </a:solidFill>
                <a:latin typeface="Merriweather"/>
                <a:ea typeface="Merriweather"/>
                <a:cs typeface="Merriweather"/>
                <a:sym typeface="Merriweather"/>
              </a:rPr>
              <a:t>What data did you use?</a:t>
            </a:r>
            <a:endParaRPr sz="1250" b="0" i="0" u="none" strike="noStrike" cap="none">
              <a:solidFill>
                <a:srgbClr val="121F3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1F3E"/>
              </a:buClr>
              <a:buSzPts val="1250"/>
              <a:buFont typeface="Merriweather"/>
              <a:buAutoNum type="arabicPeriod"/>
            </a:pPr>
            <a:r>
              <a:rPr lang="en-US" sz="1250" b="0" i="0" u="none" strike="noStrike" cap="none">
                <a:solidFill>
                  <a:srgbClr val="121F3E"/>
                </a:solidFill>
                <a:latin typeface="Merriweather"/>
                <a:ea typeface="Merriweather"/>
                <a:cs typeface="Merriweather"/>
                <a:sym typeface="Merriweather"/>
              </a:rPr>
              <a:t>Who validated it?</a:t>
            </a:r>
            <a:endParaRPr sz="1250" b="0" i="0" u="none" strike="noStrike" cap="none">
              <a:solidFill>
                <a:srgbClr val="121F3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" name="Google Shape;57;g3977269d830_0_138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F3F3F3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977269d830_0_138"/>
          <p:cNvSpPr/>
          <p:nvPr/>
        </p:nvSpPr>
        <p:spPr>
          <a:xfrm>
            <a:off x="274320" y="4892040"/>
            <a:ext cx="82296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TOPx HHS Tech Sprint for AI and Invisible Illness  ·  Milestone Presentation Template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77269d830_0_153"/>
          <p:cNvSpPr/>
          <p:nvPr/>
        </p:nvSpPr>
        <p:spPr>
          <a:xfrm>
            <a:off x="0" y="0"/>
            <a:ext cx="9144000" cy="584400"/>
          </a:xfrm>
          <a:prstGeom prst="rect">
            <a:avLst/>
          </a:prstGeom>
          <a:solidFill>
            <a:srgbClr val="121F3E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977269d830_0_153"/>
          <p:cNvSpPr/>
          <p:nvPr/>
        </p:nvSpPr>
        <p:spPr>
          <a:xfrm>
            <a:off x="274325" y="0"/>
            <a:ext cx="73152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C9A227"/>
                </a:solidFill>
                <a:latin typeface="Roboto"/>
                <a:ea typeface="Roboto"/>
                <a:cs typeface="Roboto"/>
                <a:sym typeface="Roboto"/>
              </a:rPr>
              <a:t>Week 10  ·  MVP Showcase</a:t>
            </a:r>
            <a:endParaRPr sz="1300" b="1" i="0" u="none" strike="noStrike" cap="none">
              <a:solidFill>
                <a:srgbClr val="C9A2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g3977269d830_0_153"/>
          <p:cNvSpPr/>
          <p:nvPr/>
        </p:nvSpPr>
        <p:spPr>
          <a:xfrm>
            <a:off x="274320" y="72538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B2A4A"/>
                </a:solidFill>
                <a:latin typeface="Roboto"/>
                <a:ea typeface="Roboto"/>
                <a:cs typeface="Roboto"/>
                <a:sym typeface="Roboto"/>
              </a:rPr>
              <a:t>Deployment Strategy</a:t>
            </a:r>
            <a:endParaRPr sz="2800" b="1" i="0" u="none" strike="noStrike" cap="none">
              <a:solidFill>
                <a:srgbClr val="1B2A4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g3977269d830_0_153"/>
          <p:cNvSpPr/>
          <p:nvPr/>
        </p:nvSpPr>
        <p:spPr>
          <a:xfrm>
            <a:off x="274320" y="127409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From sprint to the real world</a:t>
            </a:r>
            <a:endParaRPr sz="1400" b="0" i="1" u="none" strike="noStrike" cap="none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" name="Google Shape;68;g3977269d830_0_153"/>
          <p:cNvSpPr/>
          <p:nvPr/>
        </p:nvSpPr>
        <p:spPr>
          <a:xfrm>
            <a:off x="274325" y="1715262"/>
            <a:ext cx="5029200" cy="2765400"/>
          </a:xfrm>
          <a:prstGeom prst="rect">
            <a:avLst/>
          </a:prstGeom>
          <a:solidFill>
            <a:srgbClr val="F3F3F3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977269d830_0_153"/>
          <p:cNvSpPr/>
          <p:nvPr/>
        </p:nvSpPr>
        <p:spPr>
          <a:xfrm>
            <a:off x="411475" y="1864975"/>
            <a:ext cx="47550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Finalized deployment and launch plan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Sustainability model (open source, commercial, NGO partnership, etc.)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Continued development roadmap post-sprint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Merriweather"/>
              <a:buChar char="•"/>
            </a:pPr>
            <a:r>
              <a:rPr lang="en-US" sz="1300" b="0" i="0" u="none" strike="noStrike" cap="none">
                <a:solidFill>
                  <a:srgbClr val="1B2A4A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get involved or support the tool</a:t>
            </a:r>
            <a:endParaRPr sz="1300" b="0" i="0" u="none" strike="noStrike" cap="none">
              <a:solidFill>
                <a:srgbClr val="1B2A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" name="Google Shape;70;g3977269d830_0_153"/>
          <p:cNvSpPr/>
          <p:nvPr/>
        </p:nvSpPr>
        <p:spPr>
          <a:xfrm>
            <a:off x="5532125" y="1715149"/>
            <a:ext cx="3337500" cy="2765400"/>
          </a:xfrm>
          <a:prstGeom prst="rect">
            <a:avLst/>
          </a:prstGeom>
          <a:solidFill>
            <a:srgbClr val="D1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977269d830_0_153"/>
          <p:cNvSpPr/>
          <p:nvPr/>
        </p:nvSpPr>
        <p:spPr>
          <a:xfrm>
            <a:off x="5532125" y="1409488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21F3E"/>
                </a:solidFill>
                <a:latin typeface="Roboto"/>
                <a:ea typeface="Roboto"/>
                <a:cs typeface="Roboto"/>
                <a:sym typeface="Roboto"/>
              </a:rPr>
              <a:t>THE PATH FORWARD</a:t>
            </a:r>
            <a:endParaRPr sz="1000" b="1" i="0" u="none" strike="noStrike" cap="none">
              <a:solidFill>
                <a:srgbClr val="121F3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3977269d830_0_153"/>
          <p:cNvSpPr/>
          <p:nvPr/>
        </p:nvSpPr>
        <p:spPr>
          <a:xfrm>
            <a:off x="5692175" y="1864975"/>
            <a:ext cx="3017400" cy="24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1F3E"/>
              </a:buClr>
              <a:buSzPts val="1250"/>
              <a:buFont typeface="Merriweather"/>
              <a:buAutoNum type="arabicPeriod"/>
            </a:pPr>
            <a:r>
              <a:rPr lang="en-US" sz="1250" b="0" i="0" u="none" strike="noStrike" cap="none">
                <a:solidFill>
                  <a:srgbClr val="121F3E"/>
                </a:solidFill>
                <a:latin typeface="Merriweather"/>
                <a:ea typeface="Merriweather"/>
                <a:cs typeface="Merriweather"/>
                <a:sym typeface="Merriweather"/>
              </a:rPr>
              <a:t>How will this reach real users?</a:t>
            </a:r>
            <a:endParaRPr sz="1250" b="0" i="0" u="none" strike="noStrike" cap="none">
              <a:solidFill>
                <a:srgbClr val="121F3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1F3E"/>
              </a:buClr>
              <a:buSzPts val="1250"/>
              <a:buFont typeface="Merriweather"/>
              <a:buAutoNum type="arabicPeriod"/>
            </a:pPr>
            <a:r>
              <a:rPr lang="en-US" sz="1250" b="0" i="0" u="none" strike="noStrike" cap="none">
                <a:solidFill>
                  <a:srgbClr val="121F3E"/>
                </a:solidFill>
                <a:latin typeface="Merriweather"/>
                <a:ea typeface="Merriweather"/>
                <a:cs typeface="Merriweather"/>
                <a:sym typeface="Merriweather"/>
              </a:rPr>
              <a:t>What's the plan after today?</a:t>
            </a:r>
            <a:endParaRPr sz="1250" b="0" i="0" u="none" strike="noStrike" cap="none">
              <a:solidFill>
                <a:srgbClr val="121F3E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g3977269d830_0_153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F3F3F3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977269d830_0_153"/>
          <p:cNvSpPr/>
          <p:nvPr/>
        </p:nvSpPr>
        <p:spPr>
          <a:xfrm>
            <a:off x="274320" y="4892040"/>
            <a:ext cx="82296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TOPx HHS Tech Sprint for AI and Invisible Illness  ·  Milestone Presentation Template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On-screen Show (16:9)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Merriweather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Yuwei Z</cp:lastModifiedBy>
  <cp:revision>1</cp:revision>
  <dcterms:created xsi:type="dcterms:W3CDTF">2026-04-20T01:27:33Z</dcterms:created>
  <dcterms:modified xsi:type="dcterms:W3CDTF">2026-10-07T14:43:43Z</dcterms:modified>
</cp:coreProperties>
</file>