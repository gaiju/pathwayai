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embeddedFontLst>
    <p:embeddedFont>
      <p:font typeface="Merriweather" panose="00000500000000000000" pitchFamily="2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iIDX0oa8bxpIGvv/g6xyu3lDpnH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3977269d830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" name="Google Shape;17;g3977269d830_0_1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" name="Google Shape;18;g3977269d830_0_1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977269d830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" name="Google Shape;29;g3977269d830_0_1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" name="Google Shape;30;g3977269d830_0_1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977269d830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g3977269d830_0_1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6" name="Google Shape;46;g3977269d830_0_1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977269d830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977269d830_0_1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977269d830_0_15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HS Invisible Illness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9772159add_0_108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g39772159add_0_108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g39772159add_0_108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F3E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g3977269d830_0_112"/>
          <p:cNvSpPr/>
          <p:nvPr/>
        </p:nvSpPr>
        <p:spPr>
          <a:xfrm>
            <a:off x="0" y="0"/>
            <a:ext cx="304200" cy="5143500"/>
          </a:xfrm>
          <a:prstGeom prst="rect">
            <a:avLst/>
          </a:prstGeom>
          <a:solidFill>
            <a:srgbClr val="C9A227"/>
          </a:solidFill>
          <a:ln w="12700" cap="flat" cmpd="sng">
            <a:solidFill>
              <a:srgbClr val="C9A2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g3977269d830_0_112"/>
          <p:cNvSpPr/>
          <p:nvPr/>
        </p:nvSpPr>
        <p:spPr>
          <a:xfrm>
            <a:off x="740664" y="1143000"/>
            <a:ext cx="76352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FFFFFF"/>
              </a:buClr>
              <a:buSzPts val="5200"/>
              <a:buFont typeface="Calibri"/>
              <a:buNone/>
            </a:pPr>
            <a:r>
              <a:rPr sz="4400" b="1">
                <a:solidFill>
                  <a:srgbClr val="FFFFFF"/>
                </a:solidFill>
                <a:latin typeface="Roboto"/>
              </a:rPr>
              <a:t>PathwayAI</a:t>
            </a:r>
            <a:endParaRPr sz="36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800" i="1">
                <a:solidFill>
                  <a:srgbClr val="CADCFC"/>
                </a:solidFill>
                <a:latin typeface="Roboto"/>
              </a:rPr>
              <a:t>Making the Hidden Patient Journey</a:t>
            </a:r>
            <a:br/>
            <a:r>
              <a:rPr sz="2800" i="1">
                <a:solidFill>
                  <a:srgbClr val="CADCFC"/>
                </a:solidFill>
                <a:latin typeface="Roboto"/>
              </a:rPr>
              <a:t>Visible—and Actionable</a:t>
            </a:r>
          </a:p>
        </p:txBody>
      </p:sp>
      <p:sp>
        <p:nvSpPr>
          <p:cNvPr id="22" name="Google Shape;22;g3977269d830_0_112"/>
          <p:cNvSpPr/>
          <p:nvPr/>
        </p:nvSpPr>
        <p:spPr>
          <a:xfrm>
            <a:off x="744377" y="594360"/>
            <a:ext cx="45720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C9A227"/>
                </a:solidFill>
                <a:latin typeface="Roboto"/>
                <a:ea typeface="Roboto"/>
                <a:cs typeface="Roboto"/>
                <a:sym typeface="Roboto"/>
              </a:rPr>
              <a:t>MVP Showcase</a:t>
            </a:r>
            <a:endParaRPr sz="1800" b="1" i="0" u="none" strike="noStrike" cap="none">
              <a:solidFill>
                <a:srgbClr val="C9A22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" name="Google Shape;23;g3977269d830_0_112"/>
          <p:cNvSpPr/>
          <p:nvPr/>
        </p:nvSpPr>
        <p:spPr>
          <a:xfrm>
            <a:off x="740664" y="3474720"/>
            <a:ext cx="73152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>
                <a:srgbClr val="CADCFC"/>
              </a:buClr>
              <a:buSzPts val="1500"/>
              <a:buFont typeface="Calibri"/>
              <a:buNone/>
            </a:pPr>
            <a:r>
              <a:rPr sz="2200" b="1">
                <a:solidFill>
                  <a:srgbClr val="FFFFFF"/>
                </a:solidFill>
                <a:latin typeface="Roboto"/>
              </a:rPr>
              <a:t>Team GreenAcorn</a:t>
            </a:r>
            <a:endParaRPr sz="1500" b="0" i="0" u="none" strike="noStrike" cap="none">
              <a:solidFill>
                <a:srgbClr val="CADCFC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r>
              <a:rPr sz="2000">
                <a:solidFill>
                  <a:srgbClr val="CADCFC"/>
                </a:solidFill>
                <a:latin typeface="Roboto"/>
              </a:rPr>
              <a:t>Presented by Yuwei Zhang</a:t>
            </a:r>
          </a:p>
        </p:txBody>
      </p:sp>
      <p:sp>
        <p:nvSpPr>
          <p:cNvPr id="24" name="Google Shape;24;g3977269d830_0_112"/>
          <p:cNvSpPr/>
          <p:nvPr/>
        </p:nvSpPr>
        <p:spPr>
          <a:xfrm>
            <a:off x="6439605" y="4703465"/>
            <a:ext cx="23775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TOPx HHS Tech Sprint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g3977269d830_0_112"/>
          <p:cNvSpPr/>
          <p:nvPr/>
        </p:nvSpPr>
        <p:spPr>
          <a:xfrm rot="-5400000">
            <a:off x="-1483900" y="3190400"/>
            <a:ext cx="3272100" cy="28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MVP Showcase</a:t>
            </a:r>
            <a:endParaRPr sz="1000" b="0" i="0" u="none" strike="noStrike" cap="none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6" name="Google Shape;26;g3977269d830_0_112"/>
          <p:cNvSpPr/>
          <p:nvPr/>
        </p:nvSpPr>
        <p:spPr>
          <a:xfrm>
            <a:off x="744367" y="3246120"/>
            <a:ext cx="2148775" cy="11975"/>
          </a:xfrm>
          <a:custGeom>
            <a:avLst/>
            <a:gdLst/>
            <a:ahLst/>
            <a:cxnLst/>
            <a:rect l="l" t="t" r="r" b="b"/>
            <a:pathLst>
              <a:path w="85951" h="479" extrusionOk="0">
                <a:moveTo>
                  <a:pt x="0" y="0"/>
                </a:moveTo>
                <a:lnTo>
                  <a:pt x="85951" y="479"/>
                </a:lnTo>
              </a:path>
            </a:pathLst>
          </a:custGeom>
          <a:noFill/>
          <a:ln w="9525" cap="flat" cmpd="sng">
            <a:solidFill>
              <a:srgbClr val="D1EB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3977269d830_0_123"/>
          <p:cNvSpPr/>
          <p:nvPr/>
        </p:nvSpPr>
        <p:spPr>
          <a:xfrm>
            <a:off x="0" y="0"/>
            <a:ext cx="9144000" cy="584400"/>
          </a:xfrm>
          <a:prstGeom prst="rect">
            <a:avLst/>
          </a:prstGeom>
          <a:solidFill>
            <a:srgbClr val="121F3E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g3977269d830_0_123"/>
          <p:cNvSpPr/>
          <p:nvPr/>
        </p:nvSpPr>
        <p:spPr>
          <a:xfrm>
            <a:off x="274325" y="0"/>
            <a:ext cx="7315200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100"/>
              <a:buFont typeface="Calibri"/>
              <a:buNone/>
            </a:pPr>
            <a:r>
              <a:rPr lang="en-US" sz="1300" b="1" i="0" u="none" strike="noStrike" cap="none">
                <a:solidFill>
                  <a:srgbClr val="C9A227"/>
                </a:solidFill>
                <a:latin typeface="Roboto"/>
                <a:ea typeface="Roboto"/>
                <a:cs typeface="Roboto"/>
                <a:sym typeface="Roboto"/>
              </a:rPr>
              <a:t>Week 10  ·  MVP Showcase</a:t>
            </a:r>
            <a:endParaRPr sz="1300" b="1" i="0" u="none" strike="noStrike" cap="none">
              <a:solidFill>
                <a:srgbClr val="C9A22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g3977269d830_0_123"/>
          <p:cNvSpPr/>
          <p:nvPr/>
        </p:nvSpPr>
        <p:spPr>
          <a:xfrm>
            <a:off x="274320" y="725388"/>
            <a:ext cx="8229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2800"/>
              <a:buFont typeface="Calibri"/>
              <a:buNone/>
            </a:pPr>
            <a:r>
              <a:rPr lang="en-US" sz="2800" b="1" i="0" u="none" strike="noStrike" cap="none">
                <a:solidFill>
                  <a:srgbClr val="1B2A4A"/>
                </a:solidFill>
                <a:latin typeface="Roboto"/>
                <a:ea typeface="Roboto"/>
                <a:cs typeface="Roboto"/>
                <a:sym typeface="Roboto"/>
              </a:rPr>
              <a:t>MVP Walkthrough</a:t>
            </a:r>
            <a:endParaRPr sz="2800" b="1" i="0" u="none" strike="noStrike" cap="none">
              <a:solidFill>
                <a:srgbClr val="1B2A4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" name="Google Shape;35;g3977269d830_0_123"/>
          <p:cNvSpPr/>
          <p:nvPr/>
        </p:nvSpPr>
        <p:spPr>
          <a:xfrm>
            <a:off x="274320" y="1274090"/>
            <a:ext cx="82296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400"/>
              <a:buFont typeface="Calibri"/>
              <a:buNone/>
            </a:pPr>
            <a:r>
              <a:rPr lang="en-US" sz="1400" b="0" i="1" u="none" strike="noStrike" cap="none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Your completed minimum viable product</a:t>
            </a:r>
            <a:endParaRPr sz="1400" b="0" i="1" u="none" strike="noStrike" cap="none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6" name="Google Shape;36;g3977269d830_0_123"/>
          <p:cNvSpPr/>
          <p:nvPr/>
        </p:nvSpPr>
        <p:spPr>
          <a:xfrm>
            <a:off x="274325" y="1715262"/>
            <a:ext cx="5029200" cy="2765400"/>
          </a:xfrm>
          <a:prstGeom prst="rect">
            <a:avLst/>
          </a:prstGeom>
          <a:solidFill>
            <a:srgbClr val="F3F3F3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g3977269d830_0_123"/>
          <p:cNvSpPr/>
          <p:nvPr/>
        </p:nvSpPr>
        <p:spPr>
          <a:xfrm>
            <a:off x="411475" y="1864975"/>
            <a:ext cx="4755000" cy="252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Merriweather"/>
              <a:buChar char="•"/>
            </a:pPr>
            <a:r>
              <a:rPr lang="en-US" sz="1300" b="0" i="0" u="none" strike="noStrike" cap="none">
                <a:solidFill>
                  <a:srgbClr val="1B2A4A"/>
                </a:solidFill>
                <a:latin typeface="Merriweather"/>
                <a:ea typeface="Merriweather"/>
                <a:cs typeface="Merriweather"/>
                <a:sym typeface="Merriweather"/>
              </a:rPr>
              <a:t>[Full product demo here]</a:t>
            </a:r>
            <a:endParaRPr sz="1300" b="0" i="0" u="none" strike="noStrike" cap="none">
              <a:solidFill>
                <a:srgbClr val="1B2A4A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Merriweather"/>
              <a:buChar char="•"/>
            </a:pPr>
            <a:r>
              <a:rPr lang="en-US" sz="1300" b="0" i="0" u="none" strike="noStrike" cap="none">
                <a:solidFill>
                  <a:srgbClr val="1B2A4A"/>
                </a:solidFill>
                <a:latin typeface="Merriweather"/>
                <a:ea typeface="Merriweather"/>
                <a:cs typeface="Merriweather"/>
                <a:sym typeface="Merriweather"/>
              </a:rPr>
              <a:t>Complete user journey from start to finish</a:t>
            </a:r>
            <a:endParaRPr sz="1300" b="0" i="0" u="none" strike="noStrike" cap="none">
              <a:solidFill>
                <a:srgbClr val="1B2A4A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Merriweather"/>
              <a:buChar char="•"/>
            </a:pPr>
            <a:r>
              <a:rPr lang="en-US" sz="1300" b="0" i="0" u="none" strike="noStrike" cap="none">
                <a:solidFill>
                  <a:srgbClr val="1B2A4A"/>
                </a:solidFill>
                <a:latin typeface="Merriweather"/>
                <a:ea typeface="Merriweather"/>
                <a:cs typeface="Merriweather"/>
                <a:sym typeface="Merriweather"/>
              </a:rPr>
              <a:t>All core features demonstrated</a:t>
            </a:r>
            <a:endParaRPr sz="1300" b="0" i="0" u="none" strike="noStrike" cap="none">
              <a:solidFill>
                <a:srgbClr val="1B2A4A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Merriweather"/>
              <a:buChar char="•"/>
            </a:pPr>
            <a:r>
              <a:rPr lang="en-US" sz="1300" b="0" i="0" u="none" strike="noStrike" cap="none">
                <a:solidFill>
                  <a:srgbClr val="1B2A4A"/>
                </a:solidFill>
                <a:latin typeface="Merriweather"/>
                <a:ea typeface="Merriweather"/>
                <a:cs typeface="Merriweather"/>
                <a:sym typeface="Merriweather"/>
              </a:rPr>
              <a:t>User advocates and communities you worked with</a:t>
            </a:r>
            <a:endParaRPr sz="1300" b="0" i="0" u="none" strike="noStrike" cap="none">
              <a:solidFill>
                <a:srgbClr val="1B2A4A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8" name="Google Shape;38;g3977269d830_0_123"/>
          <p:cNvSpPr/>
          <p:nvPr/>
        </p:nvSpPr>
        <p:spPr>
          <a:xfrm>
            <a:off x="5532125" y="1715149"/>
            <a:ext cx="3337500" cy="2765400"/>
          </a:xfrm>
          <a:prstGeom prst="rect">
            <a:avLst/>
          </a:prstGeom>
          <a:solidFill>
            <a:srgbClr val="D1EB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g3977269d830_0_123"/>
          <p:cNvSpPr/>
          <p:nvPr/>
        </p:nvSpPr>
        <p:spPr>
          <a:xfrm>
            <a:off x="5532125" y="1409488"/>
            <a:ext cx="3108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121F3E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1000" b="1" i="0" u="none" strike="noStrike" cap="none">
              <a:solidFill>
                <a:srgbClr val="121F3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" name="Google Shape;40;g3977269d830_0_123"/>
          <p:cNvSpPr/>
          <p:nvPr/>
        </p:nvSpPr>
        <p:spPr>
          <a:xfrm>
            <a:off x="5692175" y="1864975"/>
            <a:ext cx="3017400" cy="24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21F3E"/>
              </a:buClr>
              <a:buSzPts val="1250"/>
              <a:buFont typeface="Merriweather"/>
              <a:buAutoNum type="arabicPeriod"/>
            </a:pPr>
            <a:r>
              <a:rPr lang="en-US" sz="1250" b="0" i="0" u="none" strike="noStrike" cap="none">
                <a:solidFill>
                  <a:srgbClr val="121F3E"/>
                </a:solidFill>
                <a:latin typeface="Merriweather"/>
                <a:ea typeface="Merriweather"/>
                <a:cs typeface="Merriweather"/>
                <a:sym typeface="Merriweather"/>
              </a:rPr>
              <a:t>Walk us through the full product experience.</a:t>
            </a:r>
            <a:endParaRPr sz="1250" b="0" i="0" u="none" strike="noStrike" cap="none">
              <a:solidFill>
                <a:srgbClr val="121F3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21F3E"/>
              </a:buClr>
              <a:buSzPts val="1250"/>
              <a:buFont typeface="Merriweather"/>
              <a:buAutoNum type="arabicPeriod"/>
            </a:pPr>
            <a:r>
              <a:rPr lang="en-US" sz="1250" b="0" i="0" u="none" strike="noStrike" cap="none">
                <a:solidFill>
                  <a:srgbClr val="121F3E"/>
                </a:solidFill>
                <a:latin typeface="Merriweather"/>
                <a:ea typeface="Merriweather"/>
                <a:cs typeface="Merriweather"/>
                <a:sym typeface="Merriweather"/>
              </a:rPr>
              <a:t>Who did you test with and what did you learn?</a:t>
            </a:r>
            <a:endParaRPr sz="1250" b="0" i="0" u="none" strike="noStrike" cap="none">
              <a:solidFill>
                <a:srgbClr val="121F3E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1" name="Google Shape;41;g3977269d830_0_123"/>
          <p:cNvSpPr/>
          <p:nvPr/>
        </p:nvSpPr>
        <p:spPr>
          <a:xfrm>
            <a:off x="0" y="4892040"/>
            <a:ext cx="9144000" cy="251400"/>
          </a:xfrm>
          <a:prstGeom prst="rect">
            <a:avLst/>
          </a:prstGeom>
          <a:solidFill>
            <a:srgbClr val="F3F3F3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g3977269d830_0_123"/>
          <p:cNvSpPr/>
          <p:nvPr/>
        </p:nvSpPr>
        <p:spPr>
          <a:xfrm>
            <a:off x="274320" y="4892040"/>
            <a:ext cx="8229600" cy="25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TOPx HHS Tech Sprint for AI and Invisible Illness  ·  Milestone Presentation Template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977269d830_0_138"/>
          <p:cNvSpPr/>
          <p:nvPr/>
        </p:nvSpPr>
        <p:spPr>
          <a:xfrm>
            <a:off x="0" y="0"/>
            <a:ext cx="9144000" cy="584400"/>
          </a:xfrm>
          <a:prstGeom prst="rect">
            <a:avLst/>
          </a:prstGeom>
          <a:solidFill>
            <a:srgbClr val="121F3E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g3977269d830_0_138"/>
          <p:cNvSpPr/>
          <p:nvPr/>
        </p:nvSpPr>
        <p:spPr>
          <a:xfrm>
            <a:off x="274325" y="0"/>
            <a:ext cx="7315200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100"/>
              <a:buFont typeface="Calibri"/>
              <a:buNone/>
            </a:pPr>
            <a:r>
              <a:rPr lang="en-US" sz="1300" b="1" i="0" u="none" strike="noStrike" cap="none">
                <a:solidFill>
                  <a:srgbClr val="C9A227"/>
                </a:solidFill>
                <a:latin typeface="Roboto"/>
                <a:ea typeface="Roboto"/>
                <a:cs typeface="Roboto"/>
                <a:sym typeface="Roboto"/>
              </a:rPr>
              <a:t>Week 10  ·  MVP Showcase</a:t>
            </a:r>
            <a:endParaRPr sz="1300" b="1" i="0" u="none" strike="noStrike" cap="none">
              <a:solidFill>
                <a:srgbClr val="C9A22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" name="Google Shape;50;g3977269d830_0_138"/>
          <p:cNvSpPr/>
          <p:nvPr/>
        </p:nvSpPr>
        <p:spPr>
          <a:xfrm>
            <a:off x="274320" y="725388"/>
            <a:ext cx="8229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2800"/>
              <a:buFont typeface="Calibri"/>
              <a:buNone/>
            </a:pPr>
            <a:r>
              <a:rPr lang="en-US" sz="2800" b="1" i="0" u="none" strike="noStrike" cap="none">
                <a:solidFill>
                  <a:srgbClr val="1B2A4A"/>
                </a:solidFill>
                <a:latin typeface="Roboto"/>
                <a:ea typeface="Roboto"/>
                <a:cs typeface="Roboto"/>
                <a:sym typeface="Roboto"/>
              </a:rPr>
              <a:t>Impact &amp; Evidence</a:t>
            </a:r>
            <a:endParaRPr sz="2800" b="1" i="0" u="none" strike="noStrike" cap="none">
              <a:solidFill>
                <a:srgbClr val="1B2A4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Google Shape;51;g3977269d830_0_138"/>
          <p:cNvSpPr/>
          <p:nvPr/>
        </p:nvSpPr>
        <p:spPr>
          <a:xfrm>
            <a:off x="274320" y="1274090"/>
            <a:ext cx="82296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400"/>
              <a:buFont typeface="Calibri"/>
              <a:buNone/>
            </a:pPr>
            <a:r>
              <a:rPr lang="en-US" sz="1400" b="0" i="1" u="none" strike="noStrike" cap="none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End users, data, and outcomes</a:t>
            </a:r>
            <a:endParaRPr sz="1400" b="0" i="1" u="none" strike="noStrike" cap="none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2" name="Google Shape;52;g3977269d830_0_138"/>
          <p:cNvSpPr/>
          <p:nvPr/>
        </p:nvSpPr>
        <p:spPr>
          <a:xfrm>
            <a:off x="274325" y="1715262"/>
            <a:ext cx="5029200" cy="2765400"/>
          </a:xfrm>
          <a:prstGeom prst="rect">
            <a:avLst/>
          </a:prstGeom>
          <a:solidFill>
            <a:srgbClr val="F3F3F3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g3977269d830_0_138"/>
          <p:cNvSpPr/>
          <p:nvPr/>
        </p:nvSpPr>
        <p:spPr>
          <a:xfrm>
            <a:off x="411475" y="1864975"/>
            <a:ext cx="4755000" cy="252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Merriweather"/>
              <a:buChar char="•"/>
            </a:pPr>
            <a:r>
              <a:rPr lang="en-US" sz="1300" b="0" i="0" u="none" strike="noStrike" cap="none">
                <a:solidFill>
                  <a:srgbClr val="1B2A4A"/>
                </a:solidFill>
                <a:latin typeface="Merriweather"/>
                <a:ea typeface="Merriweather"/>
                <a:cs typeface="Merriweather"/>
                <a:sym typeface="Merriweather"/>
              </a:rPr>
              <a:t>End user(s) the product serves</a:t>
            </a:r>
            <a:endParaRPr sz="1300" b="0" i="0" u="none" strike="noStrike" cap="none">
              <a:solidFill>
                <a:srgbClr val="1B2A4A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Merriweather"/>
              <a:buChar char="•"/>
            </a:pPr>
            <a:r>
              <a:rPr lang="en-US" sz="1300" b="0" i="0" u="none" strike="noStrike" cap="none">
                <a:solidFill>
                  <a:srgbClr val="1B2A4A"/>
                </a:solidFill>
                <a:latin typeface="Merriweather"/>
                <a:ea typeface="Merriweather"/>
                <a:cs typeface="Merriweather"/>
                <a:sym typeface="Merriweather"/>
              </a:rPr>
              <a:t>User advocates engaged throughout the sprint</a:t>
            </a:r>
            <a:endParaRPr sz="1300" b="0" i="0" u="none" strike="noStrike" cap="none">
              <a:solidFill>
                <a:srgbClr val="1B2A4A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Merriweather"/>
              <a:buChar char="•"/>
            </a:pPr>
            <a:r>
              <a:rPr lang="en-US" sz="1300" b="0" i="0" u="none" strike="noStrike" cap="none">
                <a:solidFill>
                  <a:srgbClr val="1B2A4A"/>
                </a:solidFill>
                <a:latin typeface="Merriweather"/>
                <a:ea typeface="Merriweather"/>
                <a:cs typeface="Merriweather"/>
                <a:sym typeface="Merriweather"/>
              </a:rPr>
              <a:t>Federal open datasets incorporated</a:t>
            </a:r>
            <a:endParaRPr sz="1300" b="0" i="0" u="none" strike="noStrike" cap="none">
              <a:solidFill>
                <a:srgbClr val="1B2A4A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Merriweather"/>
              <a:buChar char="•"/>
            </a:pPr>
            <a:r>
              <a:rPr lang="en-US" sz="1300" b="0" i="0" u="none" strike="noStrike" cap="none">
                <a:solidFill>
                  <a:srgbClr val="1B2A4A"/>
                </a:solidFill>
                <a:latin typeface="Merriweather"/>
                <a:ea typeface="Merriweather"/>
                <a:cs typeface="Merriweather"/>
                <a:sym typeface="Merriweather"/>
              </a:rPr>
              <a:t>Evidence of user validation or testing results</a:t>
            </a:r>
            <a:endParaRPr sz="1300" b="0" i="0" u="none" strike="noStrike" cap="none">
              <a:solidFill>
                <a:srgbClr val="1B2A4A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4" name="Google Shape;54;g3977269d830_0_138"/>
          <p:cNvSpPr/>
          <p:nvPr/>
        </p:nvSpPr>
        <p:spPr>
          <a:xfrm>
            <a:off x="5532125" y="1715149"/>
            <a:ext cx="3337500" cy="2765400"/>
          </a:xfrm>
          <a:prstGeom prst="rect">
            <a:avLst/>
          </a:prstGeom>
          <a:solidFill>
            <a:srgbClr val="D1EB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977269d830_0_138"/>
          <p:cNvSpPr/>
          <p:nvPr/>
        </p:nvSpPr>
        <p:spPr>
          <a:xfrm>
            <a:off x="5532125" y="1409488"/>
            <a:ext cx="3108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121F3E"/>
                </a:solidFill>
                <a:latin typeface="Roboto"/>
                <a:ea typeface="Roboto"/>
                <a:cs typeface="Roboto"/>
                <a:sym typeface="Roboto"/>
              </a:rPr>
              <a:t>PROOF POINTS</a:t>
            </a:r>
            <a:endParaRPr sz="1000" b="1" i="0" u="none" strike="noStrike" cap="none">
              <a:solidFill>
                <a:srgbClr val="121F3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" name="Google Shape;56;g3977269d830_0_138"/>
          <p:cNvSpPr/>
          <p:nvPr/>
        </p:nvSpPr>
        <p:spPr>
          <a:xfrm>
            <a:off x="5692175" y="1864975"/>
            <a:ext cx="3017400" cy="24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21F3E"/>
              </a:buClr>
              <a:buSzPts val="1250"/>
              <a:buFont typeface="Merriweather"/>
              <a:buAutoNum type="arabicPeriod"/>
            </a:pPr>
            <a:r>
              <a:rPr lang="en-US" sz="1250" b="0" i="0" u="none" strike="noStrike" cap="none">
                <a:solidFill>
                  <a:srgbClr val="121F3E"/>
                </a:solidFill>
                <a:latin typeface="Merriweather"/>
                <a:ea typeface="Merriweather"/>
                <a:cs typeface="Merriweather"/>
                <a:sym typeface="Merriweather"/>
              </a:rPr>
              <a:t>How do you know this works for users?</a:t>
            </a:r>
            <a:endParaRPr sz="1250" b="0" i="0" u="none" strike="noStrike" cap="none">
              <a:solidFill>
                <a:srgbClr val="121F3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21F3E"/>
              </a:buClr>
              <a:buSzPts val="1250"/>
              <a:buFont typeface="Merriweather"/>
              <a:buAutoNum type="arabicPeriod"/>
            </a:pPr>
            <a:r>
              <a:rPr lang="en-US" sz="1250" b="0" i="0" u="none" strike="noStrike" cap="none">
                <a:solidFill>
                  <a:srgbClr val="121F3E"/>
                </a:solidFill>
                <a:latin typeface="Merriweather"/>
                <a:ea typeface="Merriweather"/>
                <a:cs typeface="Merriweather"/>
                <a:sym typeface="Merriweather"/>
              </a:rPr>
              <a:t>What data did you use?</a:t>
            </a:r>
            <a:endParaRPr sz="1250" b="0" i="0" u="none" strike="noStrike" cap="none">
              <a:solidFill>
                <a:srgbClr val="121F3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21F3E"/>
              </a:buClr>
              <a:buSzPts val="1250"/>
              <a:buFont typeface="Merriweather"/>
              <a:buAutoNum type="arabicPeriod"/>
            </a:pPr>
            <a:r>
              <a:rPr lang="en-US" sz="1250" b="0" i="0" u="none" strike="noStrike" cap="none">
                <a:solidFill>
                  <a:srgbClr val="121F3E"/>
                </a:solidFill>
                <a:latin typeface="Merriweather"/>
                <a:ea typeface="Merriweather"/>
                <a:cs typeface="Merriweather"/>
                <a:sym typeface="Merriweather"/>
              </a:rPr>
              <a:t>Who validated it?</a:t>
            </a:r>
            <a:endParaRPr sz="1250" b="0" i="0" u="none" strike="noStrike" cap="none">
              <a:solidFill>
                <a:srgbClr val="121F3E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7" name="Google Shape;57;g3977269d830_0_138"/>
          <p:cNvSpPr/>
          <p:nvPr/>
        </p:nvSpPr>
        <p:spPr>
          <a:xfrm>
            <a:off x="0" y="4892040"/>
            <a:ext cx="9144000" cy="251400"/>
          </a:xfrm>
          <a:prstGeom prst="rect">
            <a:avLst/>
          </a:prstGeom>
          <a:solidFill>
            <a:srgbClr val="F3F3F3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g3977269d830_0_138"/>
          <p:cNvSpPr/>
          <p:nvPr/>
        </p:nvSpPr>
        <p:spPr>
          <a:xfrm>
            <a:off x="274320" y="4892040"/>
            <a:ext cx="8229600" cy="25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TOPx HHS Tech Sprint for AI and Invisible Illness  ·  Milestone Presentation Template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977269d830_0_153"/>
          <p:cNvSpPr/>
          <p:nvPr/>
        </p:nvSpPr>
        <p:spPr>
          <a:xfrm>
            <a:off x="0" y="0"/>
            <a:ext cx="9144000" cy="584400"/>
          </a:xfrm>
          <a:prstGeom prst="rect">
            <a:avLst/>
          </a:prstGeom>
          <a:solidFill>
            <a:srgbClr val="121F3E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g3977269d830_0_153"/>
          <p:cNvSpPr/>
          <p:nvPr/>
        </p:nvSpPr>
        <p:spPr>
          <a:xfrm>
            <a:off x="274325" y="0"/>
            <a:ext cx="7315200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100"/>
              <a:buFont typeface="Calibri"/>
              <a:buNone/>
            </a:pPr>
            <a:r>
              <a:rPr lang="en-US" sz="1300" b="1" i="0" u="none" strike="noStrike" cap="none">
                <a:solidFill>
                  <a:srgbClr val="C9A227"/>
                </a:solidFill>
                <a:latin typeface="Roboto"/>
                <a:ea typeface="Roboto"/>
                <a:cs typeface="Roboto"/>
                <a:sym typeface="Roboto"/>
              </a:rPr>
              <a:t>Week 10  ·  MVP Showcase</a:t>
            </a:r>
            <a:endParaRPr sz="1300" b="1" i="0" u="none" strike="noStrike" cap="none">
              <a:solidFill>
                <a:srgbClr val="C9A22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" name="Google Shape;66;g3977269d830_0_153"/>
          <p:cNvSpPr/>
          <p:nvPr/>
        </p:nvSpPr>
        <p:spPr>
          <a:xfrm>
            <a:off x="274320" y="725388"/>
            <a:ext cx="8229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2800"/>
              <a:buFont typeface="Calibri"/>
              <a:buNone/>
            </a:pPr>
            <a:r>
              <a:rPr lang="en-US" sz="2800" b="1" i="0" u="none" strike="noStrike" cap="none">
                <a:solidFill>
                  <a:srgbClr val="1B2A4A"/>
                </a:solidFill>
                <a:latin typeface="Roboto"/>
                <a:ea typeface="Roboto"/>
                <a:cs typeface="Roboto"/>
                <a:sym typeface="Roboto"/>
              </a:rPr>
              <a:t>Deployment Strategy</a:t>
            </a:r>
            <a:endParaRPr sz="2800" b="1" i="0" u="none" strike="noStrike" cap="none">
              <a:solidFill>
                <a:srgbClr val="1B2A4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" name="Google Shape;67;g3977269d830_0_153"/>
          <p:cNvSpPr/>
          <p:nvPr/>
        </p:nvSpPr>
        <p:spPr>
          <a:xfrm>
            <a:off x="274320" y="1274090"/>
            <a:ext cx="82296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400"/>
              <a:buFont typeface="Calibri"/>
              <a:buNone/>
            </a:pPr>
            <a:r>
              <a:rPr lang="en-US" sz="1400" b="0" i="1" u="none" strike="noStrike" cap="none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From sprint to the real world</a:t>
            </a:r>
            <a:endParaRPr sz="1400" b="0" i="1" u="none" strike="noStrike" cap="none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68" name="Google Shape;68;g3977269d830_0_153"/>
          <p:cNvSpPr/>
          <p:nvPr/>
        </p:nvSpPr>
        <p:spPr>
          <a:xfrm>
            <a:off x="274325" y="1715262"/>
            <a:ext cx="5029200" cy="2765400"/>
          </a:xfrm>
          <a:prstGeom prst="rect">
            <a:avLst/>
          </a:prstGeom>
          <a:solidFill>
            <a:srgbClr val="F3F3F3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g3977269d830_0_153"/>
          <p:cNvSpPr/>
          <p:nvPr/>
        </p:nvSpPr>
        <p:spPr>
          <a:xfrm>
            <a:off x="411475" y="1864975"/>
            <a:ext cx="4755000" cy="252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Merriweather"/>
              <a:buChar char="•"/>
            </a:pPr>
            <a:r>
              <a:rPr lang="en-US" sz="1300" b="0" i="0" u="none" strike="noStrike" cap="none">
                <a:solidFill>
                  <a:srgbClr val="1B2A4A"/>
                </a:solidFill>
                <a:latin typeface="Merriweather"/>
                <a:ea typeface="Merriweather"/>
                <a:cs typeface="Merriweather"/>
                <a:sym typeface="Merriweather"/>
              </a:rPr>
              <a:t>Finalized deployment and launch plan</a:t>
            </a:r>
            <a:endParaRPr sz="1300" b="0" i="0" u="none" strike="noStrike" cap="none">
              <a:solidFill>
                <a:srgbClr val="1B2A4A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Merriweather"/>
              <a:buChar char="•"/>
            </a:pPr>
            <a:r>
              <a:rPr lang="en-US" sz="1300" b="0" i="0" u="none" strike="noStrike" cap="none">
                <a:solidFill>
                  <a:srgbClr val="1B2A4A"/>
                </a:solidFill>
                <a:latin typeface="Merriweather"/>
                <a:ea typeface="Merriweather"/>
                <a:cs typeface="Merriweather"/>
                <a:sym typeface="Merriweather"/>
              </a:rPr>
              <a:t>Sustainability model (open source, commercial, NGO partnership, etc.)</a:t>
            </a:r>
            <a:endParaRPr sz="1300" b="0" i="0" u="none" strike="noStrike" cap="none">
              <a:solidFill>
                <a:srgbClr val="1B2A4A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Merriweather"/>
              <a:buChar char="•"/>
            </a:pPr>
            <a:r>
              <a:rPr lang="en-US" sz="1300" b="0" i="0" u="none" strike="noStrike" cap="none">
                <a:solidFill>
                  <a:srgbClr val="1B2A4A"/>
                </a:solidFill>
                <a:latin typeface="Merriweather"/>
                <a:ea typeface="Merriweather"/>
                <a:cs typeface="Merriweather"/>
                <a:sym typeface="Merriweather"/>
              </a:rPr>
              <a:t>Continued development roadmap post-sprint</a:t>
            </a:r>
            <a:endParaRPr sz="1300" b="0" i="0" u="none" strike="noStrike" cap="none">
              <a:solidFill>
                <a:srgbClr val="1B2A4A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B2A4A"/>
              </a:buClr>
              <a:buSzPts val="1300"/>
              <a:buFont typeface="Merriweather"/>
              <a:buChar char="•"/>
            </a:pPr>
            <a:r>
              <a:rPr lang="en-US" sz="1300" b="0" i="0" u="none" strike="noStrike" cap="none">
                <a:solidFill>
                  <a:srgbClr val="1B2A4A"/>
                </a:solidFill>
                <a:latin typeface="Merriweather"/>
                <a:ea typeface="Merriweather"/>
                <a:cs typeface="Merriweather"/>
                <a:sym typeface="Merriweather"/>
              </a:rPr>
              <a:t>How to get involved or support the tool</a:t>
            </a:r>
            <a:endParaRPr sz="1300" b="0" i="0" u="none" strike="noStrike" cap="none">
              <a:solidFill>
                <a:srgbClr val="1B2A4A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70" name="Google Shape;70;g3977269d830_0_153"/>
          <p:cNvSpPr/>
          <p:nvPr/>
        </p:nvSpPr>
        <p:spPr>
          <a:xfrm>
            <a:off x="5532125" y="1715149"/>
            <a:ext cx="3337500" cy="2765400"/>
          </a:xfrm>
          <a:prstGeom prst="rect">
            <a:avLst/>
          </a:prstGeom>
          <a:solidFill>
            <a:srgbClr val="D1EB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g3977269d830_0_153"/>
          <p:cNvSpPr/>
          <p:nvPr/>
        </p:nvSpPr>
        <p:spPr>
          <a:xfrm>
            <a:off x="5532125" y="1409488"/>
            <a:ext cx="3108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121F3E"/>
                </a:solidFill>
                <a:latin typeface="Roboto"/>
                <a:ea typeface="Roboto"/>
                <a:cs typeface="Roboto"/>
                <a:sym typeface="Roboto"/>
              </a:rPr>
              <a:t>THE PATH FORWARD</a:t>
            </a:r>
            <a:endParaRPr sz="1000" b="1" i="0" u="none" strike="noStrike" cap="none">
              <a:solidFill>
                <a:srgbClr val="121F3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" name="Google Shape;72;g3977269d830_0_153"/>
          <p:cNvSpPr/>
          <p:nvPr/>
        </p:nvSpPr>
        <p:spPr>
          <a:xfrm>
            <a:off x="5692175" y="1864975"/>
            <a:ext cx="3017400" cy="24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21F3E"/>
              </a:buClr>
              <a:buSzPts val="1250"/>
              <a:buFont typeface="Merriweather"/>
              <a:buAutoNum type="arabicPeriod"/>
            </a:pPr>
            <a:r>
              <a:rPr lang="en-US" sz="1250" b="0" i="0" u="none" strike="noStrike" cap="none">
                <a:solidFill>
                  <a:srgbClr val="121F3E"/>
                </a:solidFill>
                <a:latin typeface="Merriweather"/>
                <a:ea typeface="Merriweather"/>
                <a:cs typeface="Merriweather"/>
                <a:sym typeface="Merriweather"/>
              </a:rPr>
              <a:t>How will this reach real users?</a:t>
            </a:r>
            <a:endParaRPr sz="1250" b="0" i="0" u="none" strike="noStrike" cap="none">
              <a:solidFill>
                <a:srgbClr val="121F3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21F3E"/>
              </a:buClr>
              <a:buSzPts val="1250"/>
              <a:buFont typeface="Merriweather"/>
              <a:buAutoNum type="arabicPeriod"/>
            </a:pPr>
            <a:r>
              <a:rPr lang="en-US" sz="1250" b="0" i="0" u="none" strike="noStrike" cap="none">
                <a:solidFill>
                  <a:srgbClr val="121F3E"/>
                </a:solidFill>
                <a:latin typeface="Merriweather"/>
                <a:ea typeface="Merriweather"/>
                <a:cs typeface="Merriweather"/>
                <a:sym typeface="Merriweather"/>
              </a:rPr>
              <a:t>What's the plan after today?</a:t>
            </a:r>
            <a:endParaRPr sz="1250" b="0" i="0" u="none" strike="noStrike" cap="none">
              <a:solidFill>
                <a:srgbClr val="121F3E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73" name="Google Shape;73;g3977269d830_0_153"/>
          <p:cNvSpPr/>
          <p:nvPr/>
        </p:nvSpPr>
        <p:spPr>
          <a:xfrm>
            <a:off x="0" y="4892040"/>
            <a:ext cx="9144000" cy="251400"/>
          </a:xfrm>
          <a:prstGeom prst="rect">
            <a:avLst/>
          </a:prstGeom>
          <a:solidFill>
            <a:srgbClr val="F3F3F3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g3977269d830_0_153"/>
          <p:cNvSpPr/>
          <p:nvPr/>
        </p:nvSpPr>
        <p:spPr>
          <a:xfrm>
            <a:off x="274320" y="4892040"/>
            <a:ext cx="8229600" cy="25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TOPx HHS Tech Sprint for AI and Invisible Illness  ·  Milestone Presentation Template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232</Words>
  <Application>Microsoft Office PowerPoint</Application>
  <PresentationFormat>On-screen Show (16:9)</PresentationFormat>
  <Paragraphs>43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Merriweather</vt:lpstr>
      <vt:lpstr>Roboto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Yuwei Z</cp:lastModifiedBy>
  <cp:revision>1</cp:revision>
  <dcterms:created xsi:type="dcterms:W3CDTF">2026-04-20T01:27:33Z</dcterms:created>
  <dcterms:modified xsi:type="dcterms:W3CDTF">2026-10-07T14:43:43Z</dcterms:modified>
</cp:coreProperties>
</file>