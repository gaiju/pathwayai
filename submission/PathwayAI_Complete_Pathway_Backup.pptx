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99669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Start with the complete pathway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12680" y="25603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5ED4CC"/>
                </a:solidFill>
                <a:latin typeface="Aptos"/>
              </a:rPr>
              <a:t>01 / 17 · START</a:t>
            </a:r>
          </a:p>
        </p:txBody>
      </p:sp>
      <p:pic>
        <p:nvPicPr>
          <p:cNvPr id="4" name="Picture 3" descr="01_opening.png"/>
          <p:cNvPicPr>
            <a:picLocks noChangeAspect="1"/>
          </p:cNvPicPr>
          <p:nvPr/>
        </p:nvPicPr>
        <p:blipFill>
          <a:blip r:embed="rId2"/>
          <a:srcRect t="16000" b="24000"/>
          <a:stretch>
            <a:fillRect/>
          </a:stretch>
        </p:blipFill>
        <p:spPr>
          <a:xfrm>
            <a:off x="883919" y="777240"/>
            <a:ext cx="1042416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19088"/>
            <a:ext cx="11430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CADCFC"/>
                </a:solidFill>
                <a:latin typeface="Aptos"/>
              </a:rPr>
              <a:t>Start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84264"/>
            <a:ext cx="1143000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A9BAD0"/>
                </a:solidFill>
                <a:latin typeface="Aptos"/>
              </a:rPr>
              <a:t>Local app screenshots · Fictional entries · Illustrative costs · No live AI response shown</a:t>
            </a:r>
          </a:p>
        </p:txBody>
      </p:sp>
    </p:spTree>
  </p:cSld>
  <p:clrMapOvr>
    <a:masterClrMapping/>
  </p:clrMapOvr>
  <p:transition advClick="1" advTm="18000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99669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Plan before going outdoors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12680" y="25603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5ED4CC"/>
                </a:solidFill>
                <a:latin typeface="Aptos"/>
              </a:rPr>
              <a:t>02 / 17 · PREVENT</a:t>
            </a:r>
          </a:p>
        </p:txBody>
      </p:sp>
      <p:pic>
        <p:nvPicPr>
          <p:cNvPr id="4" name="Picture 3" descr="outdoor_plan_form.png"/>
          <p:cNvPicPr>
            <a:picLocks noChangeAspect="1"/>
          </p:cNvPicPr>
          <p:nvPr/>
        </p:nvPicPr>
        <p:blipFill>
          <a:blip r:embed="rId2"/>
          <a:srcRect t="5000" b="35000"/>
          <a:stretch>
            <a:fillRect/>
          </a:stretch>
        </p:blipFill>
        <p:spPr>
          <a:xfrm>
            <a:off x="883919" y="777240"/>
            <a:ext cx="1042416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19088"/>
            <a:ext cx="11430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CADCFC"/>
                </a:solidFill>
                <a:latin typeface="Aptos"/>
              </a:rPr>
              <a:t>Plan time outdoors → Your outdoor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84264"/>
            <a:ext cx="1143000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A9BAD0"/>
                </a:solidFill>
                <a:latin typeface="Aptos"/>
              </a:rPr>
              <a:t>Local app screenshots · Fictional entries · Illustrative costs · No live AI response shown</a:t>
            </a:r>
          </a:p>
        </p:txBody>
      </p:sp>
    </p:spTree>
  </p:cSld>
  <p:clrMapOvr>
    <a:masterClrMapping/>
  </p:clrMapOvr>
  <p:transition advClick="1" advTm="12000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99669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Prepare, check, and respond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12680" y="25603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5ED4CC"/>
                </a:solidFill>
                <a:latin typeface="Aptos"/>
              </a:rPr>
              <a:t>03 / 17 · PREVENT</a:t>
            </a:r>
          </a:p>
        </p:txBody>
      </p:sp>
      <p:pic>
        <p:nvPicPr>
          <p:cNvPr id="4" name="Picture 3" descr="prevention_steps.png"/>
          <p:cNvPicPr>
            <a:picLocks noChangeAspect="1"/>
          </p:cNvPicPr>
          <p:nvPr/>
        </p:nvPicPr>
        <p:blipFill>
          <a:blip r:embed="rId2"/>
          <a:srcRect t="5000" b="35000"/>
          <a:stretch>
            <a:fillRect/>
          </a:stretch>
        </p:blipFill>
        <p:spPr>
          <a:xfrm>
            <a:off x="883919" y="777240"/>
            <a:ext cx="1042416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19088"/>
            <a:ext cx="11430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CADCFC"/>
                </a:solidFill>
                <a:latin typeface="Aptos"/>
              </a:rPr>
              <a:t>Learn &amp; Prevent → Generate My Outdoor Tick-Prevention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84264"/>
            <a:ext cx="1143000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A9BAD0"/>
                </a:solidFill>
                <a:latin typeface="Aptos"/>
              </a:rPr>
              <a:t>Local app screenshots · Fictional entries · Illustrative costs · No live AI response shown</a:t>
            </a:r>
          </a:p>
        </p:txBody>
      </p:sp>
    </p:spTree>
  </p:cSld>
  <p:clrMapOvr>
    <a:masterClrMapping/>
  </p:clrMapOvr>
  <p:transition advClick="1" advTm="18000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99669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After a tick bite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12680" y="25603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5ED4CC"/>
                </a:solidFill>
                <a:latin typeface="Aptos"/>
              </a:rPr>
              <a:t>04 / 17 · RESPOND</a:t>
            </a:r>
          </a:p>
        </p:txBody>
      </p:sp>
      <p:pic>
        <p:nvPicPr>
          <p:cNvPr id="4" name="Picture 3" descr="tick_bite_response.png"/>
          <p:cNvPicPr>
            <a:picLocks noChangeAspect="1"/>
          </p:cNvPicPr>
          <p:nvPr/>
        </p:nvPicPr>
        <p:blipFill>
          <a:blip r:embed="rId2"/>
          <a:srcRect t="5000" b="35000"/>
          <a:stretch>
            <a:fillRect/>
          </a:stretch>
        </p:blipFill>
        <p:spPr>
          <a:xfrm>
            <a:off x="883919" y="777240"/>
            <a:ext cx="1042416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19088"/>
            <a:ext cx="11430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CADCFC"/>
                </a:solidFill>
                <a:latin typeface="Aptos"/>
              </a:rPr>
              <a:t>After a tick bite → Remove → Record → Seek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84264"/>
            <a:ext cx="1143000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A9BAD0"/>
                </a:solidFill>
                <a:latin typeface="Aptos"/>
              </a:rPr>
              <a:t>Local app screenshots · Fictional entries · Illustrative costs · No live AI response shown</a:t>
            </a:r>
          </a:p>
        </p:txBody>
      </p:sp>
    </p:spTree>
  </p:cSld>
  <p:clrMapOvr>
    <a:masterClrMapping/>
  </p:clrMapOvr>
  <p:transition advClick="1" advTm="22000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99669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Record when and where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12680" y="25603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5ED4CC"/>
                </a:solidFill>
                <a:latin typeface="Aptos"/>
              </a:rPr>
              <a:t>05 / 17 · RESPOND</a:t>
            </a:r>
          </a:p>
        </p:txBody>
      </p:sp>
      <p:pic>
        <p:nvPicPr>
          <p:cNvPr id="4" name="Picture 3" descr="tick_observation.png"/>
          <p:cNvPicPr>
            <a:picLocks noChangeAspect="1"/>
          </p:cNvPicPr>
          <p:nvPr/>
        </p:nvPicPr>
        <p:blipFill>
          <a:blip r:embed="rId2"/>
          <a:srcRect t="5000" b="35000"/>
          <a:stretch>
            <a:fillRect/>
          </a:stretch>
        </p:blipFill>
        <p:spPr>
          <a:xfrm>
            <a:off x="883919" y="777240"/>
            <a:ext cx="1042416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19088"/>
            <a:ext cx="11430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CADCFC"/>
                </a:solidFill>
                <a:latin typeface="Aptos"/>
              </a:rPr>
              <a:t>Prepare for care → Tick encounter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84264"/>
            <a:ext cx="1143000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A9BAD0"/>
                </a:solidFill>
                <a:latin typeface="Aptos"/>
              </a:rPr>
              <a:t>Local app screenshots · Fictional entries · Illustrative costs · No live AI response shown</a:t>
            </a:r>
          </a:p>
        </p:txBody>
      </p:sp>
    </p:spTree>
  </p:cSld>
  <p:clrMapOvr>
    <a:masterClrMapping/>
  </p:clrMapOvr>
  <p:transition advClick="1" advTm="12000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99669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Tell the story once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12680" y="25603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5ED4CC"/>
                </a:solidFill>
                <a:latin typeface="Aptos"/>
              </a:rPr>
              <a:t>06 / 17 · CARE</a:t>
            </a:r>
          </a:p>
        </p:txBody>
      </p:sp>
      <p:pic>
        <p:nvPicPr>
          <p:cNvPr id="4" name="Picture 3" descr="02_patient_story.png"/>
          <p:cNvPicPr>
            <a:picLocks noChangeAspect="1"/>
          </p:cNvPicPr>
          <p:nvPr/>
        </p:nvPicPr>
        <p:blipFill>
          <a:blip r:embed="rId2"/>
          <a:srcRect t="20000" b="20000"/>
          <a:stretch>
            <a:fillRect/>
          </a:stretch>
        </p:blipFill>
        <p:spPr>
          <a:xfrm>
            <a:off x="883919" y="777240"/>
            <a:ext cx="1042416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19088"/>
            <a:ext cx="11430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CADCFC"/>
                </a:solidFill>
                <a:latin typeface="Aptos"/>
              </a:rPr>
              <a:t>Prepare for care → Tell us what happened → Organize My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84264"/>
            <a:ext cx="1143000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A9BAD0"/>
                </a:solidFill>
                <a:latin typeface="Aptos"/>
              </a:rPr>
              <a:t>Local app screenshots · Fictional entries · Illustrative costs · No live AI response shown</a:t>
            </a:r>
          </a:p>
        </p:txBody>
      </p:sp>
    </p:spTree>
  </p:cSld>
  <p:clrMapOvr>
    <a:masterClrMapping/>
  </p:clrMapOvr>
  <p:transition advClick="1" advTm="24000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99669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Prepare questions about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12680" y="25603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5ED4CC"/>
                </a:solidFill>
                <a:latin typeface="Aptos"/>
              </a:rPr>
              <a:t>07 / 17 · CARE</a:t>
            </a:r>
          </a:p>
        </p:txBody>
      </p:sp>
      <p:pic>
        <p:nvPicPr>
          <p:cNvPr id="4" name="Picture 3" descr="testing_questions.png"/>
          <p:cNvPicPr>
            <a:picLocks noChangeAspect="1"/>
          </p:cNvPicPr>
          <p:nvPr/>
        </p:nvPicPr>
        <p:blipFill>
          <a:blip r:embed="rId2"/>
          <a:srcRect t="5000" b="35000"/>
          <a:stretch>
            <a:fillRect/>
          </a:stretch>
        </p:blipFill>
        <p:spPr>
          <a:xfrm>
            <a:off x="883919" y="777240"/>
            <a:ext cx="1042416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19088"/>
            <a:ext cx="11430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CADCFC"/>
                </a:solidFill>
                <a:latin typeface="Aptos"/>
              </a:rPr>
              <a:t>Care &amp; Support → Lyme tests → Before the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84264"/>
            <a:ext cx="1143000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A9BAD0"/>
                </a:solidFill>
                <a:latin typeface="Aptos"/>
              </a:rPr>
              <a:t>Local app screenshots · Fictional entries · Illustrative costs · No live AI response shown</a:t>
            </a:r>
          </a:p>
        </p:txBody>
      </p:sp>
    </p:spTree>
  </p:cSld>
  <p:clrMapOvr>
    <a:masterClrMapping/>
  </p:clrMapOvr>
  <p:transition advClick="1" advTm="16000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99669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Include daily life and caregiver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12680" y="25603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5ED4CC"/>
                </a:solidFill>
                <a:latin typeface="Aptos"/>
              </a:rPr>
              <a:t>08 / 17 · CARE</a:t>
            </a:r>
          </a:p>
        </p:txBody>
      </p:sp>
      <p:pic>
        <p:nvPicPr>
          <p:cNvPr id="4" name="Picture 3" descr="caregiver_daily_life.png"/>
          <p:cNvPicPr>
            <a:picLocks noChangeAspect="1"/>
          </p:cNvPicPr>
          <p:nvPr/>
        </p:nvPicPr>
        <p:blipFill>
          <a:blip r:embed="rId2"/>
          <a:srcRect t="5000" b="35000"/>
          <a:stretch>
            <a:fillRect/>
          </a:stretch>
        </p:blipFill>
        <p:spPr>
          <a:xfrm>
            <a:off x="883919" y="777240"/>
            <a:ext cx="1042416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19088"/>
            <a:ext cx="11430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CADCFC"/>
                </a:solidFill>
                <a:latin typeface="Aptos"/>
              </a:rPr>
              <a:t>Care &amp; Support → Daily life and caregiver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84264"/>
            <a:ext cx="1143000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A9BAD0"/>
                </a:solidFill>
                <a:latin typeface="Aptos"/>
              </a:rPr>
              <a:t>Local app screenshots · Fictional entries · Illustrative costs · No live AI response shown</a:t>
            </a:r>
          </a:p>
        </p:txBody>
      </p:sp>
    </p:spTree>
  </p:cSld>
  <p:clrMapOvr>
    <a:masterClrMapping/>
  </p:clrMapOvr>
  <p:transition advClick="1" advTm="14000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99669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Review payments, work and unpaid help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12680" y="25603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5ED4CC"/>
                </a:solidFill>
                <a:latin typeface="Aptos"/>
              </a:rPr>
              <a:t>09 / 17 · BURDEN</a:t>
            </a:r>
          </a:p>
        </p:txBody>
      </p:sp>
      <p:pic>
        <p:nvPicPr>
          <p:cNvPr id="4" name="Picture 3" descr="03_personal_card.png"/>
          <p:cNvPicPr>
            <a:picLocks noChangeAspect="1"/>
          </p:cNvPicPr>
          <p:nvPr/>
        </p:nvPicPr>
        <p:blipFill>
          <a:blip r:embed="rId2"/>
          <a:srcRect t="5000" b="35000"/>
          <a:stretch>
            <a:fillRect/>
          </a:stretch>
        </p:blipFill>
        <p:spPr>
          <a:xfrm>
            <a:off x="883919" y="777240"/>
            <a:ext cx="1042416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19088"/>
            <a:ext cx="11430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CADCFC"/>
                </a:solidFill>
                <a:latin typeface="Aptos"/>
              </a:rPr>
              <a:t>Care &amp; Support → Review and download your visit and burden 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84264"/>
            <a:ext cx="1143000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A9BAD0"/>
                </a:solidFill>
                <a:latin typeface="Aptos"/>
              </a:rPr>
              <a:t>Local app screenshots · Fictional entries · Illustrative costs · No live AI response shown</a:t>
            </a:r>
          </a:p>
        </p:txBody>
      </p:sp>
    </p:spTree>
  </p:cSld>
  <p:clrMapOvr>
    <a:masterClrMapping/>
  </p:clrMapOvr>
  <p:transition advClick="1" advTm="2600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99669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Prepare a request for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12680" y="25603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5ED4CC"/>
                </a:solidFill>
                <a:latin typeface="Aptos"/>
              </a:rPr>
              <a:t>10 / 17 · SUPPORT</a:t>
            </a:r>
          </a:p>
        </p:txBody>
      </p:sp>
      <p:pic>
        <p:nvPicPr>
          <p:cNvPr id="4" name="Picture 3" descr="04_support_request.png"/>
          <p:cNvPicPr>
            <a:picLocks noChangeAspect="1"/>
          </p:cNvPicPr>
          <p:nvPr/>
        </p:nvPicPr>
        <p:blipFill>
          <a:blip r:embed="rId2"/>
          <a:srcRect t="5000" b="35000"/>
          <a:stretch>
            <a:fillRect/>
          </a:stretch>
        </p:blipFill>
        <p:spPr>
          <a:xfrm>
            <a:off x="883919" y="777240"/>
            <a:ext cx="1042416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19088"/>
            <a:ext cx="11430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CADCFC"/>
                </a:solidFill>
                <a:latin typeface="Aptos"/>
              </a:rPr>
              <a:t>Care &amp; Support → Choose the help you need → Getting to 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84264"/>
            <a:ext cx="1143000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A9BAD0"/>
                </a:solidFill>
                <a:latin typeface="Aptos"/>
              </a:rPr>
              <a:t>Local app screenshots · Fictional entries · Illustrative costs · No live AI response shown</a:t>
            </a:r>
          </a:p>
        </p:txBody>
      </p:sp>
    </p:spTree>
  </p:cSld>
  <p:clrMapOvr>
    <a:masterClrMapping/>
  </p:clrMapOvr>
  <p:transition advClick="1" advTm="18000"/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99669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Prepare for a benefits conversation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12680" y="25603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5ED4CC"/>
                </a:solidFill>
                <a:latin typeface="Aptos"/>
              </a:rPr>
              <a:t>11 / 17 · SUPPORT</a:t>
            </a:r>
          </a:p>
        </p:txBody>
      </p:sp>
      <p:pic>
        <p:nvPicPr>
          <p:cNvPr id="4" name="Picture 3" descr="benefits_preparation.png"/>
          <p:cNvPicPr>
            <a:picLocks noChangeAspect="1"/>
          </p:cNvPicPr>
          <p:nvPr/>
        </p:nvPicPr>
        <p:blipFill>
          <a:blip r:embed="rId2"/>
          <a:srcRect t="5000" b="35000"/>
          <a:stretch>
            <a:fillRect/>
          </a:stretch>
        </p:blipFill>
        <p:spPr>
          <a:xfrm>
            <a:off x="883919" y="777240"/>
            <a:ext cx="1042416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19088"/>
            <a:ext cx="11430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CADCFC"/>
                </a:solidFill>
                <a:latin typeface="Aptos"/>
              </a:rPr>
              <a:t>Care &amp; Support → Prepare for a benefits 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84264"/>
            <a:ext cx="1143000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A9BAD0"/>
                </a:solidFill>
                <a:latin typeface="Aptos"/>
              </a:rPr>
              <a:t>Local app screenshots · Fictional entries · Illustrative costs · No live AI response shown</a:t>
            </a:r>
          </a:p>
        </p:txBody>
      </p:sp>
    </p:spTree>
  </p:cSld>
  <p:clrMapOvr>
    <a:masterClrMapping/>
  </p:clrMapOvr>
  <p:transition advClick="1" advTm="12000"/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99669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Compare county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12680" y="25603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5ED4CC"/>
                </a:solidFill>
                <a:latin typeface="Aptos"/>
              </a:rPr>
              <a:t>12 / 17 · COMMUNITY</a:t>
            </a:r>
          </a:p>
        </p:txBody>
      </p:sp>
      <p:pic>
        <p:nvPicPr>
          <p:cNvPr id="4" name="Picture 3" descr="05_county_evidence.png"/>
          <p:cNvPicPr>
            <a:picLocks noChangeAspect="1"/>
          </p:cNvPicPr>
          <p:nvPr/>
        </p:nvPicPr>
        <p:blipFill>
          <a:blip r:embed="rId2"/>
          <a:srcRect t="10000" b="30000"/>
          <a:stretch>
            <a:fillRect/>
          </a:stretch>
        </p:blipFill>
        <p:spPr>
          <a:xfrm>
            <a:off x="883919" y="777240"/>
            <a:ext cx="1042416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19088"/>
            <a:ext cx="11430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CADCFC"/>
                </a:solidFill>
                <a:latin typeface="Aptos"/>
              </a:rPr>
              <a:t>Community Burden &amp; Action → Compare Dutchess and Orange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84264"/>
            <a:ext cx="1143000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A9BAD0"/>
                </a:solidFill>
                <a:latin typeface="Aptos"/>
              </a:rPr>
              <a:t>Local app screenshots · Fictional entries · Illustrative costs · No live AI response shown</a:t>
            </a:r>
          </a:p>
        </p:txBody>
      </p:sp>
    </p:spTree>
  </p:cSld>
  <p:clrMapOvr>
    <a:masterClrMapping/>
  </p:clrMapOvr>
  <p:transition advClick="1" advTm="20000"/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99669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Explore a cost illustration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12680" y="25603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5ED4CC"/>
                </a:solidFill>
                <a:latin typeface="Aptos"/>
              </a:rPr>
              <a:t>13 / 17 · COMMUNITY</a:t>
            </a:r>
          </a:p>
        </p:txBody>
      </p:sp>
      <p:pic>
        <p:nvPicPr>
          <p:cNvPr id="4" name="Picture 3" descr="county_cost_illustration.png"/>
          <p:cNvPicPr>
            <a:picLocks noChangeAspect="1"/>
          </p:cNvPicPr>
          <p:nvPr/>
        </p:nvPicPr>
        <p:blipFill>
          <a:blip r:embed="rId2"/>
          <a:srcRect t="5000" b="35000"/>
          <a:stretch>
            <a:fillRect/>
          </a:stretch>
        </p:blipFill>
        <p:spPr>
          <a:xfrm>
            <a:off x="883919" y="777240"/>
            <a:ext cx="1042416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19088"/>
            <a:ext cx="11430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CADCFC"/>
                </a:solidFill>
                <a:latin typeface="Aptos"/>
              </a:rPr>
              <a:t>Community → Estimated community cost: Dutchess and Orange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84264"/>
            <a:ext cx="1143000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A9BAD0"/>
                </a:solidFill>
                <a:latin typeface="Aptos"/>
              </a:rPr>
              <a:t>Local app screenshots · Fictional entries · Illustrative costs · No live AI response shown</a:t>
            </a:r>
          </a:p>
        </p:txBody>
      </p:sp>
    </p:spTree>
  </p:cSld>
  <p:clrMapOvr>
    <a:masterClrMapping/>
  </p:clrMapOvr>
  <p:transition advClick="1" advTm="15000"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99669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Connect needs with possible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12680" y="25603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5ED4CC"/>
                </a:solidFill>
                <a:latin typeface="Aptos"/>
              </a:rPr>
              <a:t>14 / 17 · ACTION</a:t>
            </a:r>
          </a:p>
        </p:txBody>
      </p:sp>
      <p:pic>
        <p:nvPicPr>
          <p:cNvPr id="4" name="Picture 3" descr="06_community_action.png"/>
          <p:cNvPicPr>
            <a:picLocks noChangeAspect="1"/>
          </p:cNvPicPr>
          <p:nvPr/>
        </p:nvPicPr>
        <p:blipFill>
          <a:blip r:embed="rId2"/>
          <a:srcRect t="11000" b="29000"/>
          <a:stretch>
            <a:fillRect/>
          </a:stretch>
        </p:blipFill>
        <p:spPr>
          <a:xfrm>
            <a:off x="883919" y="777240"/>
            <a:ext cx="1042416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19088"/>
            <a:ext cx="11430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CADCFC"/>
                </a:solidFill>
                <a:latin typeface="Aptos"/>
              </a:rPr>
              <a:t>Community → Patient voices → community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84264"/>
            <a:ext cx="1143000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A9BAD0"/>
                </a:solidFill>
                <a:latin typeface="Aptos"/>
              </a:rPr>
              <a:t>Local app screenshots · Fictional entries · Illustrative costs · No live AI response shown</a:t>
            </a:r>
          </a:p>
        </p:txBody>
      </p:sp>
    </p:spTree>
  </p:cSld>
  <p:clrMapOvr>
    <a:masterClrMapping/>
  </p:clrMapOvr>
  <p:transition advClick="1" advTm="20000"/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99669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Summarize comparable 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12680" y="25603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5ED4CC"/>
                </a:solidFill>
                <a:latin typeface="Aptos"/>
              </a:rPr>
              <a:t>15 / 17 · ACTION</a:t>
            </a:r>
          </a:p>
        </p:txBody>
      </p:sp>
      <p:pic>
        <p:nvPicPr>
          <p:cNvPr id="4" name="Picture 3" descr="07_synthetic_summary.png"/>
          <p:cNvPicPr>
            <a:picLocks noChangeAspect="1"/>
          </p:cNvPicPr>
          <p:nvPr/>
        </p:nvPicPr>
        <p:blipFill>
          <a:blip r:embed="rId2"/>
          <a:srcRect t="5000" b="35000"/>
          <a:stretch>
            <a:fillRect/>
          </a:stretch>
        </p:blipFill>
        <p:spPr>
          <a:xfrm>
            <a:off x="883919" y="777240"/>
            <a:ext cx="1042416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19088"/>
            <a:ext cx="11430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CADCFC"/>
                </a:solidFill>
                <a:latin typeface="Aptos"/>
              </a:rPr>
              <a:t>Community → See how comparable patient reports could be summarized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84264"/>
            <a:ext cx="1143000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A9BAD0"/>
                </a:solidFill>
                <a:latin typeface="Aptos"/>
              </a:rPr>
              <a:t>Local app screenshots · Fictional entries · Illustrative costs · No live AI response shown</a:t>
            </a:r>
          </a:p>
        </p:txBody>
      </p:sp>
    </p:spTree>
  </p:cSld>
  <p:clrMapOvr>
    <a:masterClrMapping/>
  </p:clrMapOvr>
  <p:transition advClick="1" advTm="18000"/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99669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Ask about the public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12680" y="25603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5ED4CC"/>
                </a:solidFill>
                <a:latin typeface="Aptos"/>
              </a:rPr>
              <a:t>16 / 17 · AI</a:t>
            </a:r>
          </a:p>
        </p:txBody>
      </p:sp>
      <p:pic>
        <p:nvPicPr>
          <p:cNvPr id="4" name="Picture 3" descr="08_public_ai.png"/>
          <p:cNvPicPr>
            <a:picLocks noChangeAspect="1"/>
          </p:cNvPicPr>
          <p:nvPr/>
        </p:nvPicPr>
        <p:blipFill>
          <a:blip r:embed="rId2"/>
          <a:srcRect t="40000"/>
          <a:stretch>
            <a:fillRect/>
          </a:stretch>
        </p:blipFill>
        <p:spPr>
          <a:xfrm>
            <a:off x="883919" y="777240"/>
            <a:ext cx="1042416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19088"/>
            <a:ext cx="11430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CADCFC"/>
                </a:solidFill>
                <a:latin typeface="Aptos"/>
              </a:rPr>
              <a:t>Community → Ask AI about the public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84264"/>
            <a:ext cx="1143000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A9BAD0"/>
                </a:solidFill>
                <a:latin typeface="Aptos"/>
              </a:rPr>
              <a:t>Local app screenshots · Fictional entries · Illustrative costs · No live AI response shown</a:t>
            </a:r>
          </a:p>
        </p:txBody>
      </p:sp>
    </p:spTree>
  </p:cSld>
  <p:clrMapOvr>
    <a:masterClrMapping/>
  </p:clrMapOvr>
  <p:transition advClick="1" advTm="20000"/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99669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Patients and people remain at the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12680" y="256032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5ED4CC"/>
                </a:solidFill>
                <a:latin typeface="Aptos"/>
              </a:rPr>
              <a:t>17 / 17 · THANK YOU</a:t>
            </a:r>
          </a:p>
        </p:txBody>
      </p:sp>
      <p:pic>
        <p:nvPicPr>
          <p:cNvPr id="4" name="Picture 3" descr="09_thank_you.png"/>
          <p:cNvPicPr>
            <a:picLocks noChangeAspect="1"/>
          </p:cNvPicPr>
          <p:nvPr/>
        </p:nvPicPr>
        <p:blipFill>
          <a:blip r:embed="rId2"/>
          <a:srcRect t="5000" b="35000"/>
          <a:stretch>
            <a:fillRect/>
          </a:stretch>
        </p:blipFill>
        <p:spPr>
          <a:xfrm>
            <a:off x="883919" y="777240"/>
            <a:ext cx="1042416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19088"/>
            <a:ext cx="11430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CADCFC"/>
                </a:solidFill>
                <a:latin typeface="Aptos"/>
              </a:rPr>
              <a:t>Sources &amp; Acknowledgements → Acknowledgements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684264"/>
            <a:ext cx="1143000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 b="0">
                <a:solidFill>
                  <a:srgbClr val="A9BAD0"/>
                </a:solidFill>
                <a:latin typeface="Aptos"/>
              </a:rPr>
              <a:t>Local app screenshots · Fictional entries · Illustrative costs · No live AI response shown</a:t>
            </a:r>
          </a:p>
        </p:txBody>
      </p:sp>
    </p:spTree>
  </p:cSld>
  <p:clrMapOvr>
    <a:masterClrMapping/>
  </p:clrMapOvr>
  <p:transition advClick="1" advTm="15000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PathwayAI: Complete Pathway — Visual Backup</dc:title>
  <dc:subject/>
  <dc:creator>Yuwei Zhang | Team GreenAcorn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