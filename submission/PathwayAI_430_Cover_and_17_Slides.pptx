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Google Shape;20;g3977269d830_0_112"/>
          <p:cNvSpPr/>
          <p:nvPr/>
        </p:nvSpPr>
        <p:spPr>
          <a:xfrm>
            <a:off x="0" y="0"/>
            <a:ext cx="405599" cy="6858000"/>
          </a:xfrm>
          <a:prstGeom prst="rect">
            <a:avLst/>
          </a:prstGeom>
          <a:solidFill>
            <a:srgbClr val="C9A227"/>
          </a:solidFill>
          <a:ln w="12700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977269d830_0_112"/>
          <p:cNvSpPr/>
          <p:nvPr/>
        </p:nvSpPr>
        <p:spPr>
          <a:xfrm>
            <a:off x="987551" y="1524000"/>
            <a:ext cx="10180319" cy="26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sz="5866" b="1">
                <a:solidFill>
                  <a:srgbClr val="FFFFFF"/>
                </a:solidFill>
                <a:latin typeface="Roboto"/>
              </a:rPr>
              <a:t>PathwayAI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733" i="1">
                <a:solidFill>
                  <a:srgbClr val="CADCFC"/>
                </a:solidFill>
                <a:latin typeface="Roboto"/>
              </a:rPr>
              <a:t>Making the Hidden Patient Journey</a:t>
            </a:r>
            <a:br/>
            <a:r>
              <a:rPr sz="3733" i="1">
                <a:solidFill>
                  <a:srgbClr val="CADCFC"/>
                </a:solidFill>
                <a:latin typeface="Roboto"/>
              </a:rPr>
              <a:t>Visible—and Actionable</a:t>
            </a:r>
          </a:p>
        </p:txBody>
      </p:sp>
      <p:sp>
        <p:nvSpPr>
          <p:cNvPr id="22" name="Google Shape;22;g3977269d830_0_112"/>
          <p:cNvSpPr/>
          <p:nvPr/>
        </p:nvSpPr>
        <p:spPr>
          <a:xfrm>
            <a:off x="992502" y="792480"/>
            <a:ext cx="6095999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Calibri"/>
              <a:buNone/>
            </a:pPr>
            <a:r>
              <a:rPr lang="en-US" sz="2399" b="1" i="0" u="none" strike="noStrike" cap="none">
                <a:solidFill>
                  <a:srgbClr val="C9A227"/>
                </a:solidFill>
                <a:latin typeface="Roboto"/>
                <a:ea typeface="Roboto"/>
                <a:cs typeface="Roboto"/>
                <a:sym typeface="Roboto"/>
              </a:rPr>
              <a:t>MVP Showcase</a:t>
            </a:r>
            <a:endParaRPr sz="1800" b="1" i="0" u="none" strike="noStrike" cap="none">
              <a:solidFill>
                <a:srgbClr val="C9A2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23;g3977269d830_0_112"/>
          <p:cNvSpPr/>
          <p:nvPr/>
        </p:nvSpPr>
        <p:spPr>
          <a:xfrm>
            <a:off x="987551" y="4632960"/>
            <a:ext cx="9753599" cy="115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sz="2933" b="1">
                <a:solidFill>
                  <a:srgbClr val="FFFFFF"/>
                </a:solidFill>
                <a:latin typeface="Roboto"/>
              </a:rPr>
              <a:t>Team GreenAcorn</a:t>
            </a:r>
            <a:endParaRPr sz="1500" b="0" i="0" u="none" strike="noStrike" cap="none">
              <a:solidFill>
                <a:srgbClr val="CADCFC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r>
              <a:rPr sz="2666">
                <a:solidFill>
                  <a:srgbClr val="CADCFC"/>
                </a:solidFill>
                <a:latin typeface="Roboto"/>
              </a:rPr>
              <a:t>Presented by Yuwei Zhang</a:t>
            </a:r>
          </a:p>
        </p:txBody>
      </p:sp>
      <p:sp>
        <p:nvSpPr>
          <p:cNvPr id="24" name="Google Shape;24;g3977269d830_0_112"/>
          <p:cNvSpPr/>
          <p:nvPr/>
        </p:nvSpPr>
        <p:spPr>
          <a:xfrm>
            <a:off x="8586139" y="6271286"/>
            <a:ext cx="3169999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333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TOPx HHS Tech Sprint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977269d830_0_112"/>
          <p:cNvSpPr/>
          <p:nvPr/>
        </p:nvSpPr>
        <p:spPr>
          <a:xfrm rot="-5400000">
            <a:off x="-1978533" y="4253866"/>
            <a:ext cx="4362799" cy="3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US" sz="1333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MVP Showcase</a:t>
            </a:r>
            <a:endParaRPr sz="1000" b="0" i="0" u="none" strike="noStrike" cap="non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" name="Google Shape;26;g3977269d830_0_112"/>
          <p:cNvSpPr/>
          <p:nvPr/>
        </p:nvSpPr>
        <p:spPr>
          <a:xfrm>
            <a:off x="992489" y="4328160"/>
            <a:ext cx="2865033" cy="15966"/>
          </a:xfrm>
          <a:custGeom>
            <a:avLst/>
            <a:gdLst/>
            <a:ahLst/>
            <a:cxnLst/>
            <a:rect l="l" t="t" r="r" b="b"/>
            <a:pathLst>
              <a:path w="85951" h="479" extrusionOk="0">
                <a:moveTo>
                  <a:pt x="0" y="0"/>
                </a:moveTo>
                <a:lnTo>
                  <a:pt x="85951" y="479"/>
                </a:lnTo>
              </a:path>
            </a:pathLst>
          </a:custGeom>
          <a:noFill/>
          <a:ln w="9525" cap="flat" cmpd="sng">
            <a:solidFill>
              <a:srgbClr val="D1EB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advClick="1" advTm="250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Start with the complete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01 / 17 · START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16000" b="24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Start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6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Plan before going outdoors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02 / 17 · PREVENT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Plan time outdoors → Your outdoor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000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Prepare, check, and respond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03 / 17 · PREVENT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Learn &amp; Prevent → Generate My Outdoor Tick-Prevention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600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After a tick 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04 / 17 · RESPOND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After a tick bite → Remove → Record → Seek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22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Record when and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05 / 17 · RESPOND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Prepare for care → Tick encounter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900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Tell the story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06 / 17 · CARE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20000" b="20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Prepare for care → Tell us what happened → Organize My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800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Prepare questions about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07 / 17 · CARE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Lyme tests → Before the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200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Include daily life and caregiver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08 / 17 · CARE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Daily life and caregiver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100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Review payments, work and unpaid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09 / 17 · BURDEN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Review and download your visit and burden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800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Prepare a request for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10 / 17 · SUPPORT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Choose the help you need → Getting to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300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Prepare for a benefits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11 / 17 · SUPPORT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Prepare for a benefits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100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Compare county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12 / 17 · COMMUNITY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10000" b="30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Burden &amp; Action → Compare Dutchess and 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500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Explore a cost illustration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13 / 17 · COMMUNITY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→ Estimated community cost: Dutchess and 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400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Connect needs with possible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14 / 17 · ACTION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11000" b="29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→ Patient voices → community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700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Summarize comparable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15 / 17 · ACTION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→ See how comparable patient reports could be summarized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400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Ask about the public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16 / 17 · AI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40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→ Ask AI about the public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2000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Patients and people remain at the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17 / 17 · THANK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Sources &amp; Acknowledgements → Acknowledgements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9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PathwayAI: Cover and 17 Demo Images — 4:30</dc:title>
  <dc:subject/>
  <dc:creator>Yuwei Zhang | Team GreenAcorn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